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9"/>
    <p:sldId id="280" r:id="rId30"/>
    <p:sldId id="281" r:id="rId31"/>
    <p:sldId id="282" r:id="rId32"/>
    <p:sldId id="2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7138C-7597-43AB-9A80-65AC04DB93FA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20395-A3E9-479E-8D01-2A49C380075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7050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20395-A3E9-479E-8D01-2A49C380075B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0909783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BCB5-FB58-4F9C-BEAB-ED0EBDD97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FEE8A-43FC-27D7-B1C5-850E5167D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539D4-4736-EE38-CFD7-C56B71C5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73179-9C52-8F6F-CFF6-BF651EA3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7A387-725D-9871-FC16-8CE058C0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4731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6D9A-EFAD-D4EC-71CF-29F45806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DABFD-C343-F65E-3C8A-16069E55E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8F9DD-82DC-CA7A-6301-DC97D178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B6E54-27C6-C39F-E8AD-7E52A0F2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2A2E-7F11-08E7-D2FD-412D798B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5325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4B71-1636-0145-76E1-729039AB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70022-02E6-F563-0582-23CB561E5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A76FF-105A-93A6-7C54-F9BD5113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63E42-4F69-81E3-F9C6-559312BA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F8DAB-1939-08E9-B35D-9414AD991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1855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F725-0455-CD9A-5B75-A9B305E6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489D1-A852-6DA2-4DB3-67703E0C7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25DC8-FA1D-E91E-F4E6-41A3EF2D1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5C412-0414-4ADA-B6E4-A1FA7438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0FD84-B900-D034-C8A8-30501AF5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5E492-0805-DD93-44FE-C8238E3A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538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185A-9900-0D97-897C-94482F697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6CDF9-61FB-40F3-DCC7-69B3A4A30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323D7-221E-7791-9E5B-2AAC75B3D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AEA7C-21B8-B8B5-A900-12DB4702B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D38AA-9AE6-30FF-A0C2-C4890C63B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80A1A-A147-0DEA-95BB-FACA0C62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9B2BE7-415F-CD37-272F-AFC6F393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6E948-E0BA-D3E1-2C6A-8BE30507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96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3B71-ADA3-E5E3-4333-C220A751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66E7B-B21B-33DD-8050-EA5432DC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7D09E-86E3-E9D3-F773-7D7F8289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6E6A6-7E5C-ABA8-519E-D611D2E42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9555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3A9FA-23CE-939D-5572-2F6DF82E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F8F07-C234-BAB1-DDF5-402CFC159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82C73-FFDF-42F7-3762-3636B655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80259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E958-A924-B331-1CF2-F5703BB5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2E396-556D-68C9-0A38-2595E952E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7BB4D-587C-EDB8-DB01-71A01BF37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7A4FB-69F3-202E-D577-3C45901E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DA9DC-D34D-95ED-2945-3B98D22D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E5A2B-C528-47CE-E320-4AD1F6F22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1275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C43C-B98E-9043-57DF-D3B374C3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AD73BF-1D2A-F655-BCCC-F79A7E01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4A531-68C4-809D-3E54-C8A7B8351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9BEB4-3FA5-7295-3F2D-33CAB2364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A2FB8-9B31-27DF-4B16-6040966F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62A0C-A661-E57E-9A18-057731A5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7934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84357-3E7B-8FE8-9627-FDDD389C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E962C-7978-EBF9-5EE0-7DFBB5ABE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2CE1C-BD02-59D1-B0B7-07F0F674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DC8FA-006C-4E51-FF34-262CC27A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98248-B2BA-11CA-2BF9-E14AE0D5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3078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98927B-4968-265B-8D03-D704DD024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FF520-A400-62E6-ED6C-10C2111EE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81A47-D3E4-6A6A-712D-188AF29F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13E5B-1476-5B68-216F-20005FFE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82D48-81D6-6145-CE73-6022945C5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81659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E9A4D5-ACA5-07FE-4C0F-975F68D2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4968B-720F-72EB-1BDB-0B21107C3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AE8F4-E4C5-65A7-5304-30126ADAC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1FFDC-F8A7-4035-A049-8B9C78E1FFD3}" type="datetimeFigureOut">
              <a:rPr lang="en-PH" smtClean="0"/>
              <a:t>7/14/2026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4B0AD-2E1C-7A20-8882-31DC1B793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A2847-1B58-0324-F12C-89BE9B785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E5A56-C10A-46ED-873B-B2932F8885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315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svg"/><Relationship Id="rId5" Type="http://schemas.openxmlformats.org/officeDocument/2006/relationships/image" Target="../media/image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svg"/><Relationship Id="rId4" Type="http://schemas.openxmlformats.org/officeDocument/2006/relationships/image" Target="../media/image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svg"/><Relationship Id="rId4" Type="http://schemas.openxmlformats.org/officeDocument/2006/relationships/image" Target="../media/image20.svg"/><Relationship Id="rId5" Type="http://schemas.openxmlformats.org/officeDocument/2006/relationships/image" Target="../media/image21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617F04-8E0E-D611-EF78-048FAF878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13996"/>
            <a:ext cx="1218552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4ED4E4-78D7-D142-77CA-5E083083F307}"/>
              </a:ext>
            </a:extLst>
          </p:cNvPr>
          <p:cNvSpPr txBox="1"/>
          <p:nvPr/>
        </p:nvSpPr>
        <p:spPr>
          <a:xfrm>
            <a:off x="1963445" y="2407199"/>
            <a:ext cx="827158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1500"/>
              </a:spcAft>
              <a:buNone/>
            </a:pPr>
            <a:r>
              <a:rPr lang="en-PH" sz="3300" b="1" i="0" dirty="0" err="1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StudyMate</a:t>
            </a:r>
            <a:r>
              <a:rPr lang="en-PH" sz="3300" b="1" i="0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: An AI-Powered Chatbot for Student Academic Support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8AA854-9E39-D390-E048-376C8E2E4813}"/>
              </a:ext>
            </a:extLst>
          </p:cNvPr>
          <p:cNvSpPr txBox="1"/>
          <p:nvPr/>
        </p:nvSpPr>
        <p:spPr>
          <a:xfrm>
            <a:off x="3012232" y="3515195"/>
            <a:ext cx="61675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1400" b="0" i="0" dirty="0">
                <a:solidFill>
                  <a:srgbClr val="94A3B8"/>
                </a:solidFill>
                <a:effectLst/>
                <a:latin typeface="Inter"/>
              </a:rPr>
              <a:t>A Smart Learning Assistance and Intelligent Study Companion Platform</a:t>
            </a:r>
            <a:endParaRPr lang="en-PH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7F33E-65AE-75F7-398E-A103C5FEDECF}"/>
              </a:ext>
            </a:extLst>
          </p:cNvPr>
          <p:cNvSpPr txBox="1"/>
          <p:nvPr/>
        </p:nvSpPr>
        <p:spPr>
          <a:xfrm>
            <a:off x="1963445" y="4406708"/>
            <a:ext cx="227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PRESENTER:</a:t>
            </a:r>
          </a:p>
          <a:p>
            <a:pPr algn="ctr"/>
            <a:r>
              <a:rPr lang="en-PH" sz="1400" dirty="0">
                <a:solidFill>
                  <a:schemeClr val="bg1"/>
                </a:solidFill>
              </a:rPr>
              <a:t>Lander Ian Piluden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9F30FA-25AB-B082-917F-C34CE595C9D7}"/>
              </a:ext>
            </a:extLst>
          </p:cNvPr>
          <p:cNvSpPr txBox="1"/>
          <p:nvPr/>
        </p:nvSpPr>
        <p:spPr>
          <a:xfrm>
            <a:off x="7958364" y="4406708"/>
            <a:ext cx="227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INSTITUTION:</a:t>
            </a:r>
          </a:p>
          <a:p>
            <a:pPr algn="ctr"/>
            <a:r>
              <a:rPr lang="en-PH" sz="1400" dirty="0">
                <a:solidFill>
                  <a:schemeClr val="bg1"/>
                </a:solidFill>
              </a:rPr>
              <a:t>Torres Capitol College, Inc.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36BBE6-8FCF-998D-EBD1-E44246DA11FA}"/>
              </a:ext>
            </a:extLst>
          </p:cNvPr>
          <p:cNvSpPr txBox="1"/>
          <p:nvPr/>
        </p:nvSpPr>
        <p:spPr>
          <a:xfrm>
            <a:off x="4957665" y="4406708"/>
            <a:ext cx="227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ADVISER:</a:t>
            </a:r>
          </a:p>
          <a:p>
            <a:pPr algn="ctr"/>
            <a:r>
              <a:rPr lang="en-PH" sz="1400" dirty="0">
                <a:solidFill>
                  <a:schemeClr val="bg1"/>
                </a:solidFill>
              </a:rPr>
              <a:t>David Mark Ybanez</a:t>
            </a:r>
          </a:p>
        </p:txBody>
      </p:sp>
    </p:spTree>
    <p:extLst>
      <p:ext uri="{BB962C8B-B14F-4D97-AF65-F5344CB8AC3E}">
        <p14:creationId xmlns:p14="http://schemas.microsoft.com/office/powerpoint/2010/main" val="24895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FF8EC-28F7-F595-25FF-FF788E38F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59DA4-CBCE-6F8D-EA94-35ECE369F1D1}"/>
              </a:ext>
            </a:extLst>
          </p:cNvPr>
          <p:cNvSpPr txBox="1"/>
          <p:nvPr/>
        </p:nvSpPr>
        <p:spPr>
          <a:xfrm>
            <a:off x="1539551" y="401216"/>
            <a:ext cx="35269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b="1" dirty="0">
                <a:latin typeface="Arial Black" panose="020B0A040201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6" name="Picture 5" descr="Student studying with laptop representing modern educational aesthetic">
            <a:extLst>
              <a:ext uri="{FF2B5EF4-FFF2-40B4-BE49-F238E27FC236}">
                <a16:creationId xmlns:a16="http://schemas.microsoft.com/office/drawing/2014/main" id="{A2845421-0CA2-1754-F26C-898031700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411" y="1384036"/>
            <a:ext cx="3904862" cy="39048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364CBF-346F-06FF-E276-9E63DD84145B}"/>
              </a:ext>
            </a:extLst>
          </p:cNvPr>
          <p:cNvSpPr txBox="1"/>
          <p:nvPr/>
        </p:nvSpPr>
        <p:spPr>
          <a:xfrm>
            <a:off x="556727" y="1810296"/>
            <a:ext cx="7010400" cy="2367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en-PH" sz="24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Transforming Student Learning</a:t>
            </a:r>
          </a:p>
          <a:p>
            <a:pPr marL="0" marR="0" indent="0" algn="l">
              <a:spcAft>
                <a:spcPts val="1125"/>
              </a:spcAft>
              <a:buNone/>
            </a:pPr>
            <a:r>
              <a:rPr lang="en-PH" b="0" i="0" dirty="0">
                <a:solidFill>
                  <a:srgbClr val="475569"/>
                </a:solidFill>
                <a:effectLst/>
                <a:latin typeface="Inter"/>
              </a:rPr>
              <a:t>In the modern educational framework, students navigate a fast-paced environment containing heavy syllabus workloads, complex subjects, and high-frequency testing schedules.</a:t>
            </a:r>
          </a:p>
          <a:p>
            <a:pPr marL="0" marR="0" indent="0" algn="l">
              <a:buNone/>
            </a:pPr>
            <a:r>
              <a:rPr lang="en-PH" b="1" i="0" dirty="0" err="1">
                <a:solidFill>
                  <a:srgbClr val="475569"/>
                </a:solidFill>
                <a:effectLst/>
                <a:latin typeface="Inter"/>
              </a:rPr>
              <a:t>StudyMate</a:t>
            </a:r>
            <a:r>
              <a:rPr lang="en-PH" b="0" i="0" dirty="0">
                <a:solidFill>
                  <a:srgbClr val="475569"/>
                </a:solidFill>
                <a:effectLst/>
                <a:latin typeface="Inter"/>
              </a:rPr>
              <a:t> has been conceptualized to act as an on-demand virtual academic support companion, streamlining the bridge between static textbook study materials and active conceptual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90834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604497-F1A0-602A-1396-E365BA34A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3AC6E3-462F-F69A-6666-3CBCD75EBE2A}"/>
              </a:ext>
            </a:extLst>
          </p:cNvPr>
          <p:cNvSpPr txBox="1"/>
          <p:nvPr/>
        </p:nvSpPr>
        <p:spPr>
          <a:xfrm>
            <a:off x="1012371" y="357240"/>
            <a:ext cx="61675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30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Background</a:t>
            </a: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 of the Study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F58B46-C294-68E1-DA1F-0C450344AC04}"/>
              </a:ext>
            </a:extLst>
          </p:cNvPr>
          <p:cNvSpPr/>
          <p:nvPr/>
        </p:nvSpPr>
        <p:spPr>
          <a:xfrm>
            <a:off x="852197" y="1763485"/>
            <a:ext cx="5022980" cy="3676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/>
              <a:t>The Educational Challenge</a:t>
            </a:r>
          </a:p>
          <a:p>
            <a:endParaRPr lang="en-PH" sz="2000" b="1" dirty="0"/>
          </a:p>
          <a:p>
            <a:r>
              <a:rPr lang="en-PH" sz="2000" dirty="0"/>
              <a:t>Traditional study models rely primarily on manual summarization, static notes review, and heavy resource filtration. These processes are inherently time-consuming, resulting in cognitive overload and reduced overall academic efficiency.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197E2E-34D3-9163-EE2B-6F2BFA3A24AB}"/>
              </a:ext>
            </a:extLst>
          </p:cNvPr>
          <p:cNvSpPr/>
          <p:nvPr/>
        </p:nvSpPr>
        <p:spPr>
          <a:xfrm>
            <a:off x="6316824" y="1763485"/>
            <a:ext cx="5022980" cy="3676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/>
              <a:t>The Technology Solution</a:t>
            </a:r>
          </a:p>
          <a:p>
            <a:endParaRPr lang="en-PH" sz="2000" b="1" dirty="0"/>
          </a:p>
          <a:p>
            <a:r>
              <a:rPr lang="en-PH" sz="2000" dirty="0"/>
              <a:t>Recent breakthroughs in Large Language Models (LLMs) and context processing engines present a viable avenue to automate study aids. Modern tools can safely compile summaries, organize reviews, and support real-time user chat interaction.</a:t>
            </a:r>
          </a:p>
        </p:txBody>
      </p:sp>
    </p:spTree>
    <p:extLst>
      <p:ext uri="{BB962C8B-B14F-4D97-AF65-F5344CB8AC3E}">
        <p14:creationId xmlns:p14="http://schemas.microsoft.com/office/powerpoint/2010/main" val="198286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8A4E8B-0340-21EB-3D00-2EB0E8C00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A79640-C827-3A19-747B-CF6E9CB5914E}"/>
              </a:ext>
            </a:extLst>
          </p:cNvPr>
          <p:cNvSpPr txBox="1"/>
          <p:nvPr/>
        </p:nvSpPr>
        <p:spPr>
          <a:xfrm>
            <a:off x="930729" y="273265"/>
            <a:ext cx="609755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Statement of the 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B549EF-32CB-FFE1-81EA-3EF3119FB490}"/>
              </a:ext>
            </a:extLst>
          </p:cNvPr>
          <p:cNvSpPr/>
          <p:nvPr/>
        </p:nvSpPr>
        <p:spPr>
          <a:xfrm>
            <a:off x="317241" y="2183363"/>
            <a:ext cx="3452327" cy="2845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PH" sz="2000" b="1" dirty="0"/>
            </a:br>
            <a:r>
              <a:rPr lang="en-PH" sz="2000" b="1" dirty="0"/>
              <a:t>Time Sinks</a:t>
            </a:r>
          </a:p>
          <a:p>
            <a:r>
              <a:rPr lang="en-PH" sz="2000" dirty="0"/>
              <a:t>Students lose valuable hours attempting to extract key definitions and formulas from lengthy PDF textbooks.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B9082-EACE-1F96-E30B-B55C82DDB6B2}"/>
              </a:ext>
            </a:extLst>
          </p:cNvPr>
          <p:cNvSpPr/>
          <p:nvPr/>
        </p:nvSpPr>
        <p:spPr>
          <a:xfrm>
            <a:off x="4335624" y="2183363"/>
            <a:ext cx="3452327" cy="2845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/>
              <a:t>Study Gaps</a:t>
            </a:r>
          </a:p>
          <a:p>
            <a:r>
              <a:rPr lang="en-PH" sz="2000" dirty="0"/>
              <a:t>Personalized help remains out of reach for many due to scheduling availability or high structural tuition costs.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E8D739-86FC-733E-7485-EE50ED5EFE77}"/>
              </a:ext>
            </a:extLst>
          </p:cNvPr>
          <p:cNvSpPr/>
          <p:nvPr/>
        </p:nvSpPr>
        <p:spPr>
          <a:xfrm>
            <a:off x="8363338" y="2183363"/>
            <a:ext cx="3452327" cy="2845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/>
              <a:t>Manual Quizzing</a:t>
            </a:r>
          </a:p>
          <a:p>
            <a:r>
              <a:rPr lang="en-PH" sz="2000" dirty="0"/>
              <a:t>Drafting self-assessment questions manually is highly subjective, inefficient, and limits exam-readiness.</a:t>
            </a:r>
          </a:p>
        </p:txBody>
      </p:sp>
      <p:pic>
        <p:nvPicPr>
          <p:cNvPr id="12" name="Graphic 11" descr="Hourglass">
            <a:extLst>
              <a:ext uri="{FF2B5EF4-FFF2-40B4-BE49-F238E27FC236}">
                <a16:creationId xmlns:a16="http://schemas.microsoft.com/office/drawing/2014/main" id="{67756592-50DA-AF01-9478-7C935FA36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363" y="2288425"/>
            <a:ext cx="482082" cy="482082"/>
          </a:xfrm>
          <a:prstGeom prst="rect">
            <a:avLst/>
          </a:prstGeom>
        </p:spPr>
      </p:pic>
      <p:pic>
        <p:nvPicPr>
          <p:cNvPr id="18" name="Graphic 17" descr="Warning">
            <a:extLst>
              <a:ext uri="{FF2B5EF4-FFF2-40B4-BE49-F238E27FC236}">
                <a16:creationId xmlns:a16="http://schemas.microsoft.com/office/drawing/2014/main" id="{6FCF5B57-0F91-ADF5-88F8-62E51E7AEC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9408" y="2255333"/>
            <a:ext cx="513184" cy="513184"/>
          </a:xfrm>
          <a:prstGeom prst="rect">
            <a:avLst/>
          </a:prstGeom>
        </p:spPr>
      </p:pic>
      <p:pic>
        <p:nvPicPr>
          <p:cNvPr id="20" name="Graphic 19" descr="Puzzle">
            <a:extLst>
              <a:ext uri="{FF2B5EF4-FFF2-40B4-BE49-F238E27FC236}">
                <a16:creationId xmlns:a16="http://schemas.microsoft.com/office/drawing/2014/main" id="{26799F77-582C-CD24-3B00-CD0373EB1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8460" y="2286435"/>
            <a:ext cx="482082" cy="48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B4B7A-52CB-A518-DF2E-7D102FA93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4CBA48-1424-1A3C-D497-FDEB3C93C162}"/>
              </a:ext>
            </a:extLst>
          </p:cNvPr>
          <p:cNvSpPr txBox="1"/>
          <p:nvPr/>
        </p:nvSpPr>
        <p:spPr>
          <a:xfrm>
            <a:off x="986713" y="170628"/>
            <a:ext cx="60975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30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Objectives</a:t>
            </a: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 of the Study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DDF42-2052-61B7-BCEB-4F2C9D02670E}"/>
              </a:ext>
            </a:extLst>
          </p:cNvPr>
          <p:cNvSpPr/>
          <p:nvPr/>
        </p:nvSpPr>
        <p:spPr>
          <a:xfrm>
            <a:off x="643812" y="1884784"/>
            <a:ext cx="4842588" cy="334968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PH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General Objective</a:t>
            </a:r>
          </a:p>
          <a:p>
            <a:endParaRPr lang="en-PH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PH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design and develop </a:t>
            </a:r>
            <a:r>
              <a:rPr lang="en-PH" sz="2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StudyMate</a:t>
            </a:r>
            <a:r>
              <a:rPr lang="en-PH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an AI-powered conversational chatbot engineered to deliver instant academic feedback, smart document summaries, and interactive revision support.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4E36F8-394A-15E9-CCBB-AEBCDF175815}"/>
              </a:ext>
            </a:extLst>
          </p:cNvPr>
          <p:cNvSpPr/>
          <p:nvPr/>
        </p:nvSpPr>
        <p:spPr>
          <a:xfrm>
            <a:off x="6705600" y="1884783"/>
            <a:ext cx="4842588" cy="334968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PH" sz="2000" b="1" dirty="0"/>
              <a:t>Specific Objectives</a:t>
            </a:r>
          </a:p>
          <a:p>
            <a:endParaRPr lang="en-PH" sz="2000" b="1" dirty="0"/>
          </a:p>
          <a:p>
            <a:r>
              <a:rPr lang="en-PH" sz="2000" dirty="0"/>
              <a:t>- Implement a secure user portal.</a:t>
            </a:r>
          </a:p>
          <a:p>
            <a:r>
              <a:rPr lang="en-PH" sz="2000" dirty="0"/>
              <a:t>- Formulate real-time chat APIs.</a:t>
            </a:r>
          </a:p>
          <a:p>
            <a:r>
              <a:rPr lang="en-PH" sz="2000" dirty="0"/>
              <a:t>- Integrate PDF analysis parsing logic.</a:t>
            </a:r>
          </a:p>
          <a:p>
            <a:r>
              <a:rPr lang="en-PH" sz="2000" dirty="0"/>
              <a:t>- Program </a:t>
            </a:r>
            <a:r>
              <a:rPr lang="en-PH" sz="2400" dirty="0"/>
              <a:t>automatic</a:t>
            </a:r>
            <a:r>
              <a:rPr lang="en-PH" sz="2000" dirty="0"/>
              <a:t> quiz components.</a:t>
            </a:r>
          </a:p>
        </p:txBody>
      </p:sp>
    </p:spTree>
    <p:extLst>
      <p:ext uri="{BB962C8B-B14F-4D97-AF65-F5344CB8AC3E}">
        <p14:creationId xmlns:p14="http://schemas.microsoft.com/office/powerpoint/2010/main" val="96453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F6C2AA-FE49-A94C-6A83-E4661FCEA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B3E779-4048-B237-DC0A-9E0B25D5FEBB}"/>
              </a:ext>
            </a:extLst>
          </p:cNvPr>
          <p:cNvSpPr txBox="1"/>
          <p:nvPr/>
        </p:nvSpPr>
        <p:spPr>
          <a:xfrm>
            <a:off x="1080019" y="273952"/>
            <a:ext cx="60975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Scope &amp; </a:t>
            </a:r>
            <a:r>
              <a:rPr lang="en-PH" sz="30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Limitations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2B9BB8-3694-B370-EDA2-88CD71BC007A}"/>
              </a:ext>
            </a:extLst>
          </p:cNvPr>
          <p:cNvSpPr/>
          <p:nvPr/>
        </p:nvSpPr>
        <p:spPr>
          <a:xfrm>
            <a:off x="348342" y="2071396"/>
            <a:ext cx="5402555" cy="36016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/>
              <a:t>System Scope (In-Bounds)</a:t>
            </a:r>
          </a:p>
          <a:p>
            <a:endParaRPr lang="en-PH" sz="2000" b="1" dirty="0"/>
          </a:p>
          <a:p>
            <a:r>
              <a:rPr lang="en-PH" sz="2000" dirty="0"/>
              <a:t>Multi-turn Chatbot Conversations</a:t>
            </a:r>
          </a:p>
          <a:p>
            <a:r>
              <a:rPr lang="en-PH" sz="2000" dirty="0"/>
              <a:t>Automatic Document Parsing (PDF / TXT)</a:t>
            </a:r>
          </a:p>
          <a:p>
            <a:r>
              <a:rPr lang="en-PH" sz="2000" dirty="0"/>
              <a:t>On-Demand Flashcard Compilation</a:t>
            </a:r>
          </a:p>
          <a:p>
            <a:r>
              <a:rPr lang="en-PH" sz="2000" dirty="0"/>
              <a:t>Core Progress Tracking Dashboard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A4F9C6-8581-CC5A-0D4C-3960AE6E6507}"/>
              </a:ext>
            </a:extLst>
          </p:cNvPr>
          <p:cNvSpPr/>
          <p:nvPr/>
        </p:nvSpPr>
        <p:spPr>
          <a:xfrm>
            <a:off x="6441102" y="2071396"/>
            <a:ext cx="5402555" cy="36016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/>
              <a:t>System Limitations (Out-of-Bounds)</a:t>
            </a:r>
          </a:p>
          <a:p>
            <a:endParaRPr lang="en-PH" sz="2000" b="1" dirty="0"/>
          </a:p>
          <a:p>
            <a:r>
              <a:rPr lang="en-PH" sz="2000" dirty="0"/>
              <a:t>Requires Active Internet Connection</a:t>
            </a:r>
          </a:p>
          <a:p>
            <a:r>
              <a:rPr lang="en-PH" sz="2000" dirty="0"/>
              <a:t>Document Parsing Restricted to PDFs</a:t>
            </a:r>
          </a:p>
          <a:p>
            <a:r>
              <a:rPr lang="en-PH" sz="2000" dirty="0"/>
              <a:t>Output Quality Dependent on Gemini APIs</a:t>
            </a:r>
          </a:p>
          <a:p>
            <a:r>
              <a:rPr lang="en-PH" sz="2000" dirty="0"/>
              <a:t>No Direct Institutional Database Integration</a:t>
            </a:r>
          </a:p>
        </p:txBody>
      </p:sp>
      <p:pic>
        <p:nvPicPr>
          <p:cNvPr id="10" name="Graphic 9" descr="Checkmark">
            <a:extLst>
              <a:ext uri="{FF2B5EF4-FFF2-40B4-BE49-F238E27FC236}">
                <a16:creationId xmlns:a16="http://schemas.microsoft.com/office/drawing/2014/main" id="{93BEEFE4-6261-D06E-12CC-35354D372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863" y="3612734"/>
            <a:ext cx="228600" cy="228600"/>
          </a:xfrm>
          <a:prstGeom prst="rect">
            <a:avLst/>
          </a:prstGeom>
        </p:spPr>
      </p:pic>
      <p:pic>
        <p:nvPicPr>
          <p:cNvPr id="12" name="Graphic 11" descr="Checkmark">
            <a:extLst>
              <a:ext uri="{FF2B5EF4-FFF2-40B4-BE49-F238E27FC236}">
                <a16:creationId xmlns:a16="http://schemas.microsoft.com/office/drawing/2014/main" id="{E7EDF05D-B159-CCAD-FF97-1617485C0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863" y="3910412"/>
            <a:ext cx="228600" cy="228600"/>
          </a:xfrm>
          <a:prstGeom prst="rect">
            <a:avLst/>
          </a:prstGeom>
        </p:spPr>
      </p:pic>
      <p:pic>
        <p:nvPicPr>
          <p:cNvPr id="14" name="Graphic 13" descr="Checkmark">
            <a:extLst>
              <a:ext uri="{FF2B5EF4-FFF2-40B4-BE49-F238E27FC236}">
                <a16:creationId xmlns:a16="http://schemas.microsoft.com/office/drawing/2014/main" id="{ECD189D6-3FC5-ED09-A542-1EA8B755D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863" y="4208090"/>
            <a:ext cx="228600" cy="228600"/>
          </a:xfrm>
          <a:prstGeom prst="rect">
            <a:avLst/>
          </a:prstGeom>
        </p:spPr>
      </p:pic>
      <p:pic>
        <p:nvPicPr>
          <p:cNvPr id="16" name="Graphic 15" descr="Checkmark">
            <a:extLst>
              <a:ext uri="{FF2B5EF4-FFF2-40B4-BE49-F238E27FC236}">
                <a16:creationId xmlns:a16="http://schemas.microsoft.com/office/drawing/2014/main" id="{ADFA04D5-1C4C-A46E-362E-4C9D2D0FF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863" y="4530692"/>
            <a:ext cx="228600" cy="228600"/>
          </a:xfrm>
          <a:prstGeom prst="rect">
            <a:avLst/>
          </a:prstGeom>
        </p:spPr>
      </p:pic>
      <p:pic>
        <p:nvPicPr>
          <p:cNvPr id="18" name="Graphic 17" descr="Close">
            <a:extLst>
              <a:ext uri="{FF2B5EF4-FFF2-40B4-BE49-F238E27FC236}">
                <a16:creationId xmlns:a16="http://schemas.microsoft.com/office/drawing/2014/main" id="{B5E76811-DDF1-0C98-9FF8-2EDBD2097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9889" y="3609025"/>
            <a:ext cx="253093" cy="253093"/>
          </a:xfrm>
          <a:prstGeom prst="rect">
            <a:avLst/>
          </a:prstGeom>
        </p:spPr>
      </p:pic>
      <p:pic>
        <p:nvPicPr>
          <p:cNvPr id="20" name="Graphic 19" descr="Close">
            <a:extLst>
              <a:ext uri="{FF2B5EF4-FFF2-40B4-BE49-F238E27FC236}">
                <a16:creationId xmlns:a16="http://schemas.microsoft.com/office/drawing/2014/main" id="{D5CC7C6B-F0DA-E6CE-5DB1-EB279EE1B0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9888" y="3910412"/>
            <a:ext cx="253093" cy="253093"/>
          </a:xfrm>
          <a:prstGeom prst="rect">
            <a:avLst/>
          </a:prstGeom>
        </p:spPr>
      </p:pic>
      <p:pic>
        <p:nvPicPr>
          <p:cNvPr id="22" name="Graphic 21" descr="Close">
            <a:extLst>
              <a:ext uri="{FF2B5EF4-FFF2-40B4-BE49-F238E27FC236}">
                <a16:creationId xmlns:a16="http://schemas.microsoft.com/office/drawing/2014/main" id="{8DBBF2D6-0659-76CD-E9E1-418A0EAA7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9887" y="4224234"/>
            <a:ext cx="253093" cy="253093"/>
          </a:xfrm>
          <a:prstGeom prst="rect">
            <a:avLst/>
          </a:prstGeom>
        </p:spPr>
      </p:pic>
      <p:pic>
        <p:nvPicPr>
          <p:cNvPr id="24" name="Graphic 23" descr="Close">
            <a:extLst>
              <a:ext uri="{FF2B5EF4-FFF2-40B4-BE49-F238E27FC236}">
                <a16:creationId xmlns:a16="http://schemas.microsoft.com/office/drawing/2014/main" id="{6DA101BC-EC86-6BC0-FEB0-2352DF2CD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9887" y="4521486"/>
            <a:ext cx="253093" cy="25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3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EDC50-BB3D-9812-6977-C309EA631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1BB015-8B86-8F99-07D8-EEF55EEA2929}"/>
              </a:ext>
            </a:extLst>
          </p:cNvPr>
          <p:cNvSpPr txBox="1"/>
          <p:nvPr/>
        </p:nvSpPr>
        <p:spPr>
          <a:xfrm>
            <a:off x="1150882" y="339919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30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Significance of the Study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4C5266-0075-7A50-5FAF-45D9819ED542}"/>
              </a:ext>
            </a:extLst>
          </p:cNvPr>
          <p:cNvSpPr/>
          <p:nvPr/>
        </p:nvSpPr>
        <p:spPr>
          <a:xfrm>
            <a:off x="160588" y="2659117"/>
            <a:ext cx="3794235" cy="26170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b="1"/>
              <a:t>For Students</a:t>
            </a:r>
          </a:p>
          <a:p>
            <a:r>
              <a:rPr lang="en-PH"/>
              <a:t>Reduces preparation workloads, facilitates continuous learning support, and supports exam practice anytime.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BCCE9D-F8F2-16A3-67F7-B1B1D92AA374}"/>
              </a:ext>
            </a:extLst>
          </p:cNvPr>
          <p:cNvSpPr/>
          <p:nvPr/>
        </p:nvSpPr>
        <p:spPr>
          <a:xfrm>
            <a:off x="8237177" y="2659117"/>
            <a:ext cx="3794235" cy="26170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b="1"/>
              <a:t>For Researchers</a:t>
            </a:r>
          </a:p>
          <a:p>
            <a:r>
              <a:rPr lang="en-PH"/>
              <a:t>Acts as an architectural baseline for human-computer interaction designs in consumer education tools.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B12E8C2-4A5D-D513-341E-6CD70A4BAE10}"/>
              </a:ext>
            </a:extLst>
          </p:cNvPr>
          <p:cNvSpPr/>
          <p:nvPr/>
        </p:nvSpPr>
        <p:spPr>
          <a:xfrm>
            <a:off x="4198882" y="2659117"/>
            <a:ext cx="3794235" cy="26170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b="1"/>
              <a:t>For Instructors</a:t>
            </a:r>
          </a:p>
          <a:p>
            <a:r>
              <a:rPr lang="en-PH"/>
              <a:t>Offers automated study aids, giving educators tools to help guide student research and lesson breakdowns.</a:t>
            </a:r>
          </a:p>
        </p:txBody>
      </p:sp>
      <p:pic>
        <p:nvPicPr>
          <p:cNvPr id="16" name="Graphic 15" descr="School boy">
            <a:extLst>
              <a:ext uri="{FF2B5EF4-FFF2-40B4-BE49-F238E27FC236}">
                <a16:creationId xmlns:a16="http://schemas.microsoft.com/office/drawing/2014/main" id="{399B6995-9E6C-C2E2-C891-3495E5541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8454" y="2771143"/>
            <a:ext cx="438502" cy="438502"/>
          </a:xfrm>
          <a:prstGeom prst="rect">
            <a:avLst/>
          </a:prstGeom>
        </p:spPr>
      </p:pic>
      <p:pic>
        <p:nvPicPr>
          <p:cNvPr id="18" name="Graphic 17" descr="Classroom">
            <a:extLst>
              <a:ext uri="{FF2B5EF4-FFF2-40B4-BE49-F238E27FC236}">
                <a16:creationId xmlns:a16="http://schemas.microsoft.com/office/drawing/2014/main" id="{5C5522B1-EE3D-F497-D0A9-FDFA5902FD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5206" y="2771143"/>
            <a:ext cx="341586" cy="341586"/>
          </a:xfrm>
          <a:prstGeom prst="rect">
            <a:avLst/>
          </a:prstGeom>
        </p:spPr>
      </p:pic>
      <p:pic>
        <p:nvPicPr>
          <p:cNvPr id="20" name="Graphic 19" descr="Closed book">
            <a:extLst>
              <a:ext uri="{FF2B5EF4-FFF2-40B4-BE49-F238E27FC236}">
                <a16:creationId xmlns:a16="http://schemas.microsoft.com/office/drawing/2014/main" id="{D1AB586E-D7CD-B53D-E116-6EF66177AB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63501" y="2771143"/>
            <a:ext cx="341586" cy="34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85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AF45C5-4E71-919F-58F0-191C5A952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F2796B-F31C-D720-55DC-9E02F5C38E97}"/>
              </a:ext>
            </a:extLst>
          </p:cNvPr>
          <p:cNvSpPr txBox="1"/>
          <p:nvPr/>
        </p:nvSpPr>
        <p:spPr>
          <a:xfrm>
            <a:off x="1124607" y="26634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32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System Architecture</a:t>
            </a:r>
          </a:p>
        </p:txBody>
      </p:sp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7F6CE3BA-A8B4-3F9A-6504-36DDE279F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7518" y="2351689"/>
            <a:ext cx="507831" cy="5078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C91BE7-D1D0-F8E1-882C-FFFB5A7BE2A0}"/>
              </a:ext>
            </a:extLst>
          </p:cNvPr>
          <p:cNvSpPr txBox="1"/>
          <p:nvPr/>
        </p:nvSpPr>
        <p:spPr>
          <a:xfrm>
            <a:off x="416826" y="2859520"/>
            <a:ext cx="224921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sz="24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Client Interface</a:t>
            </a:r>
          </a:p>
          <a:p>
            <a:pPr marL="0" marR="0" indent="0" algn="ctr">
              <a:spcBef>
                <a:spcPts val="375"/>
              </a:spcBef>
              <a:buNone/>
            </a:pPr>
            <a:r>
              <a:rPr lang="en-PH" sz="1200" b="0" i="0" dirty="0">
                <a:solidFill>
                  <a:srgbClr val="64748B"/>
                </a:solidFill>
                <a:effectLst/>
                <a:latin typeface="Inter"/>
              </a:rPr>
              <a:t>HTML5, CSS3, JS Frontend Panel</a:t>
            </a:r>
          </a:p>
        </p:txBody>
      </p:sp>
      <p:pic>
        <p:nvPicPr>
          <p:cNvPr id="11" name="Graphic 10" descr="Server">
            <a:extLst>
              <a:ext uri="{FF2B5EF4-FFF2-40B4-BE49-F238E27FC236}">
                <a16:creationId xmlns:a16="http://schemas.microsoft.com/office/drawing/2014/main" id="{1EB6625A-C45C-3496-A7C3-D702E3F03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6040" y="2402319"/>
            <a:ext cx="457200" cy="4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5BC7B0-7A2C-2D50-4D71-572C7CBC3B51}"/>
              </a:ext>
            </a:extLst>
          </p:cNvPr>
          <p:cNvSpPr txBox="1"/>
          <p:nvPr/>
        </p:nvSpPr>
        <p:spPr>
          <a:xfrm>
            <a:off x="3125994" y="2859519"/>
            <a:ext cx="273269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sz="24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Python Backend</a:t>
            </a:r>
          </a:p>
          <a:p>
            <a:pPr marL="0" marR="0" indent="0" algn="ctr">
              <a:spcBef>
                <a:spcPts val="375"/>
              </a:spcBef>
              <a:buNone/>
            </a:pPr>
            <a:r>
              <a:rPr lang="en-PH" sz="1200" b="0" i="0" dirty="0">
                <a:solidFill>
                  <a:srgbClr val="64748B"/>
                </a:solidFill>
                <a:effectLst/>
                <a:latin typeface="Inter"/>
              </a:rPr>
              <a:t>Flask API Routing Engine</a:t>
            </a:r>
          </a:p>
        </p:txBody>
      </p:sp>
      <p:pic>
        <p:nvPicPr>
          <p:cNvPr id="17" name="Graphic 16" descr="Brain">
            <a:extLst>
              <a:ext uri="{FF2B5EF4-FFF2-40B4-BE49-F238E27FC236}">
                <a16:creationId xmlns:a16="http://schemas.microsoft.com/office/drawing/2014/main" id="{9A0CBF4C-8A75-D734-C922-D59C84281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3931" y="2351688"/>
            <a:ext cx="507831" cy="5078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AF0CE9-2847-5B8F-DE00-7DE30F81560C}"/>
              </a:ext>
            </a:extLst>
          </p:cNvPr>
          <p:cNvSpPr txBox="1"/>
          <p:nvPr/>
        </p:nvSpPr>
        <p:spPr>
          <a:xfrm>
            <a:off x="5649405" y="2859518"/>
            <a:ext cx="343688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sz="24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Gemini AI Model</a:t>
            </a:r>
          </a:p>
          <a:p>
            <a:pPr marL="0" marR="0" indent="0" algn="ctr">
              <a:spcBef>
                <a:spcPts val="375"/>
              </a:spcBef>
              <a:buNone/>
            </a:pPr>
            <a:r>
              <a:rPr lang="en-PH" sz="1200" b="0" i="0" dirty="0">
                <a:solidFill>
                  <a:srgbClr val="64748B"/>
                </a:solidFill>
                <a:effectLst/>
                <a:latin typeface="Inter"/>
              </a:rPr>
              <a:t>Academic Context Processing</a:t>
            </a:r>
          </a:p>
        </p:txBody>
      </p:sp>
      <p:pic>
        <p:nvPicPr>
          <p:cNvPr id="21" name="Graphic 20" descr="Database">
            <a:extLst>
              <a:ext uri="{FF2B5EF4-FFF2-40B4-BE49-F238E27FC236}">
                <a16:creationId xmlns:a16="http://schemas.microsoft.com/office/drawing/2014/main" id="{F0D735AC-829F-875D-FB38-211A83C36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1723" y="2351688"/>
            <a:ext cx="457200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D003511-2293-BA4F-E698-1D7C5C51AB9E}"/>
              </a:ext>
            </a:extLst>
          </p:cNvPr>
          <p:cNvSpPr txBox="1"/>
          <p:nvPr/>
        </p:nvSpPr>
        <p:spPr>
          <a:xfrm>
            <a:off x="8606926" y="2839201"/>
            <a:ext cx="314679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sz="24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SQLite Storage</a:t>
            </a:r>
          </a:p>
          <a:p>
            <a:pPr marL="0" marR="0" indent="0" algn="ctr">
              <a:spcBef>
                <a:spcPts val="375"/>
              </a:spcBef>
              <a:buNone/>
            </a:pPr>
            <a:r>
              <a:rPr lang="en-PH" sz="1200" b="0" i="0" dirty="0">
                <a:solidFill>
                  <a:srgbClr val="64748B"/>
                </a:solidFill>
                <a:effectLst/>
                <a:latin typeface="Inter"/>
              </a:rPr>
              <a:t>User Data &amp; Chat Records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3F195B6-8FA9-23DC-D01A-FC76695E6EDA}"/>
              </a:ext>
            </a:extLst>
          </p:cNvPr>
          <p:cNvSpPr/>
          <p:nvPr/>
        </p:nvSpPr>
        <p:spPr>
          <a:xfrm>
            <a:off x="2656907" y="2960884"/>
            <a:ext cx="613188" cy="2207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40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215B989-E50D-718F-EF46-04F61541FC9B}"/>
              </a:ext>
            </a:extLst>
          </p:cNvPr>
          <p:cNvSpPr/>
          <p:nvPr/>
        </p:nvSpPr>
        <p:spPr>
          <a:xfrm>
            <a:off x="8687609" y="2980793"/>
            <a:ext cx="345080" cy="2207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400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2DB6BBE7-E12D-07A6-C309-6CD4FBF0E0C2}"/>
              </a:ext>
            </a:extLst>
          </p:cNvPr>
          <p:cNvSpPr/>
          <p:nvPr/>
        </p:nvSpPr>
        <p:spPr>
          <a:xfrm>
            <a:off x="5364643" y="2960884"/>
            <a:ext cx="498463" cy="26053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400"/>
          </a:p>
        </p:txBody>
      </p:sp>
    </p:spTree>
    <p:extLst>
      <p:ext uri="{BB962C8B-B14F-4D97-AF65-F5344CB8AC3E}">
        <p14:creationId xmlns:p14="http://schemas.microsoft.com/office/powerpoint/2010/main" val="1558624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82927-0F1E-C453-3BD1-D76D6DEE5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20751A-2C56-F1F7-E2B6-97EDFDFDDE90}"/>
              </a:ext>
            </a:extLst>
          </p:cNvPr>
          <p:cNvSpPr txBox="1"/>
          <p:nvPr/>
        </p:nvSpPr>
        <p:spPr>
          <a:xfrm>
            <a:off x="1089439" y="13656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30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System Flowchart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0990D6-3049-BCCB-20D5-4314674091DE}"/>
              </a:ext>
            </a:extLst>
          </p:cNvPr>
          <p:cNvSpPr txBox="1"/>
          <p:nvPr/>
        </p:nvSpPr>
        <p:spPr>
          <a:xfrm>
            <a:off x="0" y="3389246"/>
            <a:ext cx="1947652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450"/>
              </a:spcAft>
              <a:buNone/>
            </a:pPr>
            <a:r>
              <a:rPr lang="en-PH" sz="1400" b="1" i="0" dirty="0">
                <a:solidFill>
                  <a:srgbClr val="4F46E5"/>
                </a:solidFill>
                <a:effectLst/>
                <a:latin typeface="Poppins" panose="00000500000000000000" pitchFamily="2" charset="0"/>
              </a:rPr>
              <a:t>Login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Secure Student Registration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3AABB-84E6-22F1-D092-8081BDD03C30}"/>
              </a:ext>
            </a:extLst>
          </p:cNvPr>
          <p:cNvSpPr txBox="1"/>
          <p:nvPr/>
        </p:nvSpPr>
        <p:spPr>
          <a:xfrm>
            <a:off x="1587063" y="3389246"/>
            <a:ext cx="2375340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450"/>
              </a:spcAft>
              <a:buNone/>
            </a:pPr>
            <a:r>
              <a:rPr lang="en-PH" sz="1400" b="1" i="0" dirty="0">
                <a:solidFill>
                  <a:srgbClr val="4F46E5"/>
                </a:solidFill>
                <a:effectLst/>
                <a:latin typeface="Poppins" panose="00000500000000000000" pitchFamily="2" charset="0"/>
              </a:rPr>
              <a:t>Ingest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Upload PDFs / Textbooks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54C38B-27D1-33D5-C55E-1C7C04FC3B76}"/>
              </a:ext>
            </a:extLst>
          </p:cNvPr>
          <p:cNvSpPr txBox="1"/>
          <p:nvPr/>
        </p:nvSpPr>
        <p:spPr>
          <a:xfrm>
            <a:off x="3678622" y="3389246"/>
            <a:ext cx="2123089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450"/>
              </a:spcAft>
              <a:buNone/>
            </a:pPr>
            <a:r>
              <a:rPr lang="en-PH" sz="1400" b="1" i="0" dirty="0">
                <a:solidFill>
                  <a:srgbClr val="4F46E5"/>
                </a:solidFill>
                <a:effectLst/>
                <a:latin typeface="Poppins" panose="00000500000000000000" pitchFamily="2" charset="0"/>
              </a:rPr>
              <a:t>Process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AI Engine Ingestion &amp; Parsing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BE689D-AC1D-64C2-A7B8-DEA3AE3BDCD9}"/>
              </a:ext>
            </a:extLst>
          </p:cNvPr>
          <p:cNvSpPr txBox="1"/>
          <p:nvPr/>
        </p:nvSpPr>
        <p:spPr>
          <a:xfrm>
            <a:off x="5617778" y="3389246"/>
            <a:ext cx="2375340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450"/>
              </a:spcAft>
              <a:buNone/>
            </a:pPr>
            <a:r>
              <a:rPr lang="en-PH" sz="1400" b="1" i="0" dirty="0">
                <a:solidFill>
                  <a:srgbClr val="4F46E5"/>
                </a:solidFill>
                <a:effectLst/>
                <a:latin typeface="Poppins" panose="00000500000000000000" pitchFamily="2" charset="0"/>
              </a:rPr>
              <a:t>Generate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Interactive Quizzes &amp; Summaries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C9A9F7-5BFB-4627-FF91-9670819F9FAA}"/>
              </a:ext>
            </a:extLst>
          </p:cNvPr>
          <p:cNvSpPr txBox="1"/>
          <p:nvPr/>
        </p:nvSpPr>
        <p:spPr>
          <a:xfrm>
            <a:off x="7901152" y="3389246"/>
            <a:ext cx="1818292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450"/>
              </a:spcAft>
              <a:buNone/>
            </a:pPr>
            <a:r>
              <a:rPr lang="en-PH" sz="1400" b="1" i="0" dirty="0">
                <a:solidFill>
                  <a:srgbClr val="4F46E5"/>
                </a:solidFill>
                <a:effectLst/>
                <a:latin typeface="Poppins" panose="00000500000000000000" pitchFamily="2" charset="0"/>
              </a:rPr>
              <a:t>Interact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Real-time Chat Q&amp;A Loop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34CE61-79DE-53AF-5913-73B2B23D7851}"/>
              </a:ext>
            </a:extLst>
          </p:cNvPr>
          <p:cNvSpPr txBox="1"/>
          <p:nvPr/>
        </p:nvSpPr>
        <p:spPr>
          <a:xfrm>
            <a:off x="9627477" y="3389246"/>
            <a:ext cx="2123089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450"/>
              </a:spcAft>
              <a:buNone/>
            </a:pPr>
            <a:r>
              <a:rPr lang="en-PH" sz="1400" b="1" i="0" dirty="0">
                <a:solidFill>
                  <a:srgbClr val="4F46E5"/>
                </a:solidFill>
                <a:effectLst/>
                <a:latin typeface="Poppins" panose="00000500000000000000" pitchFamily="2" charset="0"/>
              </a:rPr>
              <a:t>Track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Session Progression Logging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188C95-B0A0-CB75-EDF9-45DB3A7C0250}"/>
              </a:ext>
            </a:extLst>
          </p:cNvPr>
          <p:cNvCxnSpPr/>
          <p:nvPr/>
        </p:nvCxnSpPr>
        <p:spPr>
          <a:xfrm>
            <a:off x="0" y="307953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9A645A28-533F-2145-370A-33BA2F34B6AA}"/>
              </a:ext>
            </a:extLst>
          </p:cNvPr>
          <p:cNvSpPr/>
          <p:nvPr/>
        </p:nvSpPr>
        <p:spPr>
          <a:xfrm>
            <a:off x="858212" y="2974428"/>
            <a:ext cx="231227" cy="2102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C3874DBE-97CE-24A3-F32D-05CB105CEC1B}"/>
              </a:ext>
            </a:extLst>
          </p:cNvPr>
          <p:cNvSpPr/>
          <p:nvPr/>
        </p:nvSpPr>
        <p:spPr>
          <a:xfrm>
            <a:off x="2659119" y="2974428"/>
            <a:ext cx="231227" cy="2102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AA898542-CB83-3756-198D-397F7F48E1A4}"/>
              </a:ext>
            </a:extLst>
          </p:cNvPr>
          <p:cNvSpPr/>
          <p:nvPr/>
        </p:nvSpPr>
        <p:spPr>
          <a:xfrm>
            <a:off x="4624552" y="2974428"/>
            <a:ext cx="231227" cy="2102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B4B56564-B05F-2F54-B047-2DC58B52DCDE}"/>
              </a:ext>
            </a:extLst>
          </p:cNvPr>
          <p:cNvSpPr/>
          <p:nvPr/>
        </p:nvSpPr>
        <p:spPr>
          <a:xfrm>
            <a:off x="6689834" y="2974428"/>
            <a:ext cx="231227" cy="2102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B90E25C1-84F4-7795-041C-63B0557FB2E2}"/>
              </a:ext>
            </a:extLst>
          </p:cNvPr>
          <p:cNvSpPr/>
          <p:nvPr/>
        </p:nvSpPr>
        <p:spPr>
          <a:xfrm>
            <a:off x="8755116" y="2974428"/>
            <a:ext cx="231227" cy="2102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831EDBD3-34A5-B696-3BD6-72696AECFCBC}"/>
              </a:ext>
            </a:extLst>
          </p:cNvPr>
          <p:cNvSpPr/>
          <p:nvPr/>
        </p:nvSpPr>
        <p:spPr>
          <a:xfrm>
            <a:off x="10573407" y="2974428"/>
            <a:ext cx="231227" cy="2102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799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A5F6E7-B75D-DF64-9254-76A90E52C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7934A9-E399-5CB6-DEF0-DE8FFFC98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034145"/>
              </p:ext>
            </p:extLst>
          </p:nvPr>
        </p:nvGraphicFramePr>
        <p:xfrm>
          <a:off x="584462" y="1537277"/>
          <a:ext cx="11019936" cy="4839063"/>
        </p:xfrm>
        <a:graphic>
          <a:graphicData uri="http://schemas.openxmlformats.org/drawingml/2006/table">
            <a:tbl>
              <a:tblPr/>
              <a:tblGrid>
                <a:gridCol w="3673312">
                  <a:extLst>
                    <a:ext uri="{9D8B030D-6E8A-4147-A177-3AD203B41FA5}">
                      <a16:colId xmlns:a16="http://schemas.microsoft.com/office/drawing/2014/main" val="3084989343"/>
                    </a:ext>
                  </a:extLst>
                </a:gridCol>
                <a:gridCol w="3673312">
                  <a:extLst>
                    <a:ext uri="{9D8B030D-6E8A-4147-A177-3AD203B41FA5}">
                      <a16:colId xmlns:a16="http://schemas.microsoft.com/office/drawing/2014/main" val="1213610661"/>
                    </a:ext>
                  </a:extLst>
                </a:gridCol>
                <a:gridCol w="3673312">
                  <a:extLst>
                    <a:ext uri="{9D8B030D-6E8A-4147-A177-3AD203B41FA5}">
                      <a16:colId xmlns:a16="http://schemas.microsoft.com/office/drawing/2014/main" val="2240115863"/>
                    </a:ext>
                  </a:extLst>
                </a:gridCol>
              </a:tblGrid>
              <a:tr h="23020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400" b="1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Layer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400" b="1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Technology Selected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400" b="1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Development Purpose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305141"/>
                  </a:ext>
                </a:extLst>
              </a:tr>
              <a:tr h="84843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 b="1">
                          <a:effectLst/>
                        </a:rPr>
                        <a:t>Frontend</a:t>
                      </a:r>
                      <a:endParaRPr lang="en-PH" sz="1300">
                        <a:effectLst/>
                      </a:endParaRP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>
                          <a:effectLst/>
                        </a:rPr>
                        <a:t>HTML5, CSS3, ES6 JavaScript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 dirty="0">
                          <a:effectLst/>
                        </a:rPr>
                        <a:t>Renders smooth interface controls, chat panels, and tables.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834143"/>
                  </a:ext>
                </a:extLst>
              </a:tr>
              <a:tr h="84843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 b="1">
                          <a:effectLst/>
                        </a:rPr>
                        <a:t>Backend Engine</a:t>
                      </a:r>
                      <a:endParaRPr lang="en-PH" sz="1300">
                        <a:effectLst/>
                      </a:endParaRP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>
                          <a:effectLst/>
                        </a:rPr>
                        <a:t>Python Flask Framework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>
                          <a:effectLst/>
                        </a:rPr>
                        <a:t>Handles routing structures, user sessions, and database calls.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631935"/>
                  </a:ext>
                </a:extLst>
              </a:tr>
              <a:tr h="84843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 b="1">
                          <a:effectLst/>
                        </a:rPr>
                        <a:t>Data Tier</a:t>
                      </a:r>
                      <a:endParaRPr lang="en-PH" sz="1300">
                        <a:effectLst/>
                      </a:endParaRP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>
                          <a:effectLst/>
                        </a:rPr>
                        <a:t>SQLite / MySQL Engine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>
                          <a:effectLst/>
                        </a:rPr>
                        <a:t>Stores robust schemas for users, prompt history, and docs.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91677"/>
                  </a:ext>
                </a:extLst>
              </a:tr>
              <a:tr h="107301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 b="1">
                          <a:effectLst/>
                        </a:rPr>
                        <a:t>Cognitive AI</a:t>
                      </a:r>
                      <a:endParaRPr lang="en-PH" sz="1300">
                        <a:effectLst/>
                      </a:endParaRP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>
                          <a:effectLst/>
                        </a:rPr>
                        <a:t>Google Gemini API Integration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>
                          <a:effectLst/>
                        </a:rPr>
                        <a:t>Processes academic content, prompt engineering, and quiz pipelines.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45780"/>
                  </a:ext>
                </a:extLst>
              </a:tr>
              <a:tr h="84843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 b="1">
                          <a:effectLst/>
                        </a:rPr>
                        <a:t>Local Workspace</a:t>
                      </a:r>
                      <a:endParaRPr lang="en-PH" sz="1300">
                        <a:effectLst/>
                      </a:endParaRP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>
                          <a:effectLst/>
                        </a:rPr>
                        <a:t>PyCharm IDE Suite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300" dirty="0">
                          <a:effectLst/>
                        </a:rPr>
                        <a:t>Integrated developer tools, debugging modules, and syntax validation.</a:t>
                      </a:r>
                    </a:p>
                  </a:txBody>
                  <a:tcPr marL="113538" marR="113538" marT="79476" marB="79476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6692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F9353C-DFAF-710D-4C37-2208C0F273AF}"/>
              </a:ext>
            </a:extLst>
          </p:cNvPr>
          <p:cNvSpPr txBox="1"/>
          <p:nvPr/>
        </p:nvSpPr>
        <p:spPr>
          <a:xfrm>
            <a:off x="1105293" y="154698"/>
            <a:ext cx="60944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30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743490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ABFF6-2062-F7E7-8703-CA2FCB2D5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5B4F95-6B57-8183-6F4E-E07A12D0BAB6}"/>
              </a:ext>
            </a:extLst>
          </p:cNvPr>
          <p:cNvSpPr txBox="1"/>
          <p:nvPr/>
        </p:nvSpPr>
        <p:spPr>
          <a:xfrm>
            <a:off x="1143001" y="104303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Database Design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811825-AEAA-927B-949C-E0BA55C76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712828"/>
              </p:ext>
            </p:extLst>
          </p:nvPr>
        </p:nvGraphicFramePr>
        <p:xfrm>
          <a:off x="1828800" y="2378707"/>
          <a:ext cx="8534400" cy="2712720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199930074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139764214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985309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400" b="1" i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Database Table</a:t>
                      </a: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400" b="1" i="0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Primary / Foreign Keys</a:t>
                      </a: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400" b="1" i="0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Critical Field Attributes</a:t>
                      </a: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7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1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users</a:t>
                      </a:r>
                      <a:endParaRPr lang="en-PH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 (PK)</a:t>
                      </a: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fullname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, 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email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, 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password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, 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role</a:t>
                      </a:r>
                      <a:endParaRPr lang="en-PH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517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1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documents</a:t>
                      </a:r>
                      <a:endParaRPr lang="en-PH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 (PK), 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user_id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 (FK)</a:t>
                      </a: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, 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upload_date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, 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endParaRPr lang="en-PH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1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chats</a:t>
                      </a:r>
                      <a:endParaRPr lang="en-PH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 (PK), 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user_id</a:t>
                      </a:r>
                      <a:r>
                        <a:rPr lang="en-PH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 (FK)</a:t>
                      </a: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b="0" i="0" dirty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message</a:t>
                      </a:r>
                      <a:r>
                        <a:rPr lang="en-PH" b="0" i="0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, </a:t>
                      </a:r>
                      <a:r>
                        <a:rPr lang="en-PH" b="0" i="0" dirty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response</a:t>
                      </a:r>
                      <a:r>
                        <a:rPr lang="en-PH" b="0" i="0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, </a:t>
                      </a:r>
                      <a:r>
                        <a:rPr lang="en-PH" b="0" i="0" dirty="0">
                          <a:solidFill>
                            <a:srgbClr val="334155"/>
                          </a:solidFill>
                          <a:effectLst/>
                          <a:latin typeface="Courier New" panose="02070309020205020404" pitchFamily="49" charset="0"/>
                        </a:rPr>
                        <a:t>timestamp</a:t>
                      </a:r>
                      <a:endParaRPr lang="en-PH" b="0" i="0" dirty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106680" marB="10668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491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37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8FCA79-B02F-0F3F-E606-95BCF4419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2D9D26-F0FB-6CDD-05F6-458698370B8E}"/>
              </a:ext>
            </a:extLst>
          </p:cNvPr>
          <p:cNvSpPr txBox="1"/>
          <p:nvPr/>
        </p:nvSpPr>
        <p:spPr>
          <a:xfrm>
            <a:off x="179110" y="1764233"/>
            <a:ext cx="5916890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en-PH" sz="24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Secure Credentials Portal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PH" b="0" i="0" dirty="0">
                <a:solidFill>
                  <a:srgbClr val="475569"/>
                </a:solidFill>
                <a:effectLst/>
                <a:latin typeface="Inter"/>
              </a:rPr>
              <a:t>This interface establishes verified, protected access controls. Users register with secure email domains paired with cryptographic hashing algorithms.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1E293B"/>
                </a:solidFill>
                <a:effectLst/>
                <a:latin typeface="Inter"/>
              </a:rPr>
              <a:t>Encrypted Strings:</a:t>
            </a:r>
            <a:r>
              <a:rPr lang="en-PH" b="0" i="0" dirty="0">
                <a:solidFill>
                  <a:srgbClr val="475569"/>
                </a:solidFill>
                <a:effectLst/>
                <a:latin typeface="Inter"/>
              </a:rPr>
              <a:t> Secured transit payloads.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1E293B"/>
                </a:solidFill>
                <a:effectLst/>
                <a:latin typeface="Inter"/>
              </a:rPr>
              <a:t>Recovery System:</a:t>
            </a:r>
            <a:r>
              <a:rPr lang="en-PH" b="0" i="0" dirty="0">
                <a:solidFill>
                  <a:srgbClr val="475569"/>
                </a:solidFill>
                <a:effectLst/>
                <a:latin typeface="Inter"/>
              </a:rPr>
              <a:t> Dynamic password-reset pipelines.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0EE0D3-8039-E5CF-45E3-AC483C7BA42D}"/>
              </a:ext>
            </a:extLst>
          </p:cNvPr>
          <p:cNvSpPr txBox="1"/>
          <p:nvPr/>
        </p:nvSpPr>
        <p:spPr>
          <a:xfrm>
            <a:off x="1237269" y="120370"/>
            <a:ext cx="61698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30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Prototype - Login Page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44E4A7-AC5E-66E1-48E4-6B1B01D4BEF1}"/>
              </a:ext>
            </a:extLst>
          </p:cNvPr>
          <p:cNvSpPr/>
          <p:nvPr/>
        </p:nvSpPr>
        <p:spPr>
          <a:xfrm>
            <a:off x="6381946" y="1715678"/>
            <a:ext cx="5505254" cy="345021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200" dirty="0">
                <a:solidFill>
                  <a:srgbClr val="94A3B8"/>
                </a:solidFill>
                <a:latin typeface="Courier New" panose="02070309020205020404" pitchFamily="49" charset="0"/>
              </a:rPr>
              <a:t>study_mate_login.html</a:t>
            </a:r>
          </a:p>
          <a:p>
            <a:pPr algn="r"/>
            <a:endParaRPr lang="en-PH" sz="3600" b="0" i="0" dirty="0">
              <a:solidFill>
                <a:srgbClr val="334155"/>
              </a:solidFill>
              <a:effectLst/>
              <a:latin typeface="Inter"/>
            </a:endParaRPr>
          </a:p>
          <a:p>
            <a:r>
              <a:rPr lang="en-PH" sz="1200" dirty="0">
                <a:solidFill>
                  <a:srgbClr val="64748B"/>
                </a:solidFill>
                <a:latin typeface="Courier New" panose="02070309020205020404" pitchFamily="49" charset="0"/>
              </a:rPr>
              <a:t>&lt;!-- Interactive Login Panel --&gt;</a:t>
            </a:r>
          </a:p>
          <a:p>
            <a:b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</a:b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&lt;</a:t>
            </a:r>
            <a:r>
              <a:rPr lang="en-PH" sz="1200" dirty="0">
                <a:solidFill>
                  <a:srgbClr val="F43F5E"/>
                </a:solidFill>
                <a:latin typeface="Courier New" panose="02070309020205020404" pitchFamily="49" charset="0"/>
              </a:rPr>
              <a:t>div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 </a:t>
            </a:r>
            <a:r>
              <a:rPr lang="en-PH" sz="1200" dirty="0">
                <a:solidFill>
                  <a:srgbClr val="E2E8F0"/>
                </a:solidFill>
                <a:latin typeface="Courier New" panose="02070309020205020404" pitchFamily="49" charset="0"/>
              </a:rPr>
              <a:t>class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="login-box"&gt;</a:t>
            </a:r>
            <a:b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</a:b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  &lt;</a:t>
            </a:r>
            <a:r>
              <a:rPr lang="en-PH" sz="1200" dirty="0">
                <a:solidFill>
                  <a:srgbClr val="F43F5E"/>
                </a:solidFill>
                <a:latin typeface="Courier New" panose="02070309020205020404" pitchFamily="49" charset="0"/>
              </a:rPr>
              <a:t>h2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&gt;</a:t>
            </a:r>
            <a:r>
              <a:rPr lang="en-PH" sz="1200" dirty="0" err="1">
                <a:solidFill>
                  <a:srgbClr val="38BDF8"/>
                </a:solidFill>
                <a:latin typeface="Courier New" panose="02070309020205020404" pitchFamily="49" charset="0"/>
              </a:rPr>
              <a:t>StudyMate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 Portal Login&lt;/</a:t>
            </a:r>
            <a:r>
              <a:rPr lang="en-PH" sz="1200" dirty="0">
                <a:solidFill>
                  <a:srgbClr val="F43F5E"/>
                </a:solidFill>
                <a:latin typeface="Courier New" panose="02070309020205020404" pitchFamily="49" charset="0"/>
              </a:rPr>
              <a:t>h2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&gt;</a:t>
            </a:r>
            <a:b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</a:b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  &lt;</a:t>
            </a:r>
            <a:r>
              <a:rPr lang="en-PH" sz="1200" dirty="0">
                <a:solidFill>
                  <a:srgbClr val="F43F5E"/>
                </a:solidFill>
                <a:latin typeface="Courier New" panose="02070309020205020404" pitchFamily="49" charset="0"/>
              </a:rPr>
              <a:t>input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 </a:t>
            </a:r>
            <a:r>
              <a:rPr lang="en-PH" sz="1200" dirty="0">
                <a:solidFill>
                  <a:srgbClr val="E2E8F0"/>
                </a:solidFill>
                <a:latin typeface="Courier New" panose="02070309020205020404" pitchFamily="49" charset="0"/>
              </a:rPr>
              <a:t>type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="email" </a:t>
            </a:r>
            <a:r>
              <a:rPr lang="en-PH" sz="1200" dirty="0">
                <a:solidFill>
                  <a:srgbClr val="E2E8F0"/>
                </a:solidFill>
                <a:latin typeface="Courier New" panose="02070309020205020404" pitchFamily="49" charset="0"/>
              </a:rPr>
              <a:t>placeholder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="Student Email" /&gt;</a:t>
            </a:r>
            <a:b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</a:b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  &lt;</a:t>
            </a:r>
            <a:r>
              <a:rPr lang="en-PH" sz="1200" dirty="0">
                <a:solidFill>
                  <a:srgbClr val="F43F5E"/>
                </a:solidFill>
                <a:latin typeface="Courier New" panose="02070309020205020404" pitchFamily="49" charset="0"/>
              </a:rPr>
              <a:t>input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 </a:t>
            </a:r>
            <a:r>
              <a:rPr lang="en-PH" sz="1200" dirty="0">
                <a:solidFill>
                  <a:srgbClr val="E2E8F0"/>
                </a:solidFill>
                <a:latin typeface="Courier New" panose="02070309020205020404" pitchFamily="49" charset="0"/>
              </a:rPr>
              <a:t>type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="password" </a:t>
            </a:r>
            <a:r>
              <a:rPr lang="en-PH" sz="1200" dirty="0">
                <a:solidFill>
                  <a:srgbClr val="E2E8F0"/>
                </a:solidFill>
                <a:latin typeface="Courier New" panose="02070309020205020404" pitchFamily="49" charset="0"/>
              </a:rPr>
              <a:t>placeholder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="Password" /&gt;</a:t>
            </a:r>
            <a:b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</a:b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  &lt;</a:t>
            </a:r>
            <a:r>
              <a:rPr lang="en-PH" sz="1200" dirty="0">
                <a:solidFill>
                  <a:srgbClr val="F43F5E"/>
                </a:solidFill>
                <a:latin typeface="Courier New" panose="02070309020205020404" pitchFamily="49" charset="0"/>
              </a:rPr>
              <a:t>button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 </a:t>
            </a:r>
            <a:r>
              <a:rPr lang="en-PH" sz="1200" dirty="0">
                <a:solidFill>
                  <a:srgbClr val="E2E8F0"/>
                </a:solidFill>
                <a:latin typeface="Courier New" panose="02070309020205020404" pitchFamily="49" charset="0"/>
              </a:rPr>
              <a:t>class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="</a:t>
            </a:r>
            <a:r>
              <a:rPr lang="en-PH" sz="1200" dirty="0" err="1">
                <a:solidFill>
                  <a:srgbClr val="38BDF8"/>
                </a:solidFill>
                <a:latin typeface="Courier New" panose="02070309020205020404" pitchFamily="49" charset="0"/>
              </a:rPr>
              <a:t>btn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-primary"&gt;Authenticate&lt;/</a:t>
            </a:r>
            <a:r>
              <a:rPr lang="en-PH" sz="1200" dirty="0">
                <a:solidFill>
                  <a:srgbClr val="F43F5E"/>
                </a:solidFill>
                <a:latin typeface="Courier New" panose="02070309020205020404" pitchFamily="49" charset="0"/>
              </a:rPr>
              <a:t>button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&gt;</a:t>
            </a:r>
            <a:b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</a:b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&lt;/</a:t>
            </a:r>
            <a:r>
              <a:rPr lang="en-PH" sz="1200" dirty="0">
                <a:solidFill>
                  <a:srgbClr val="F43F5E"/>
                </a:solidFill>
                <a:latin typeface="Courier New" panose="02070309020205020404" pitchFamily="49" charset="0"/>
              </a:rPr>
              <a:t>div</a:t>
            </a:r>
            <a:r>
              <a:rPr lang="en-PH" sz="1200" dirty="0">
                <a:solidFill>
                  <a:srgbClr val="38BDF8"/>
                </a:solidFill>
                <a:latin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90571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D9BE1-E65C-7BEF-C971-15AC8C175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D970C-EEA3-7821-A7D0-CAFF0783BB38}"/>
              </a:ext>
            </a:extLst>
          </p:cNvPr>
          <p:cNvSpPr txBox="1"/>
          <p:nvPr/>
        </p:nvSpPr>
        <p:spPr>
          <a:xfrm>
            <a:off x="1171281" y="170291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Prototype -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0A196-223E-6B1F-0C08-B8CA403D5C3A}"/>
              </a:ext>
            </a:extLst>
          </p:cNvPr>
          <p:cNvSpPr txBox="1"/>
          <p:nvPr/>
        </p:nvSpPr>
        <p:spPr>
          <a:xfrm>
            <a:off x="605673" y="2381057"/>
            <a:ext cx="5116397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en-PH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Command Central Workspace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This dashboard manages all interactive modules, including profile details, document uploads, and quick links to continue active chat records.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400" b="1" i="0" dirty="0">
                <a:solidFill>
                  <a:srgbClr val="1E293B"/>
                </a:solidFill>
                <a:effectLst/>
                <a:latin typeface="Inter"/>
              </a:rPr>
              <a:t>Metrics:</a:t>
            </a: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 Live statistical analysis of learning habits.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400" b="1" i="0" dirty="0">
                <a:solidFill>
                  <a:srgbClr val="1E293B"/>
                </a:solidFill>
                <a:effectLst/>
                <a:latin typeface="Inter"/>
              </a:rPr>
              <a:t>Alerts:</a:t>
            </a: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 Notification blocks for syllabus </a:t>
            </a:r>
            <a:r>
              <a:rPr lang="en-PH" sz="1400" b="0" i="0" dirty="0" err="1">
                <a:solidFill>
                  <a:srgbClr val="475569"/>
                </a:solidFill>
                <a:effectLst/>
                <a:latin typeface="Inter"/>
              </a:rPr>
              <a:t>mileston</a:t>
            </a:r>
            <a:endParaRPr lang="en-PH" sz="1400" b="0" i="0" dirty="0">
              <a:solidFill>
                <a:srgbClr val="475569"/>
              </a:solidFill>
              <a:effectLst/>
              <a:latin typeface="Inter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DC842E-C995-8230-CD64-58C2658B7709}"/>
              </a:ext>
            </a:extLst>
          </p:cNvPr>
          <p:cNvSpPr/>
          <p:nvPr/>
        </p:nvSpPr>
        <p:spPr>
          <a:xfrm>
            <a:off x="6469932" y="2107679"/>
            <a:ext cx="4920792" cy="32844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br>
              <a:rPr lang="en-PH" sz="1200" dirty="0"/>
            </a:br>
            <a:r>
              <a:rPr lang="en-PH" sz="1200" dirty="0"/>
              <a:t>student_dashboard.html</a:t>
            </a:r>
          </a:p>
          <a:p>
            <a:endParaRPr lang="en-PH" sz="1200" dirty="0"/>
          </a:p>
          <a:p>
            <a:r>
              <a:rPr lang="en-PH" sz="1200" dirty="0"/>
              <a:t>[ Dashboard Framework Layout ]</a:t>
            </a:r>
          </a:p>
          <a:p>
            <a:br>
              <a:rPr lang="en-PH" sz="1200" dirty="0"/>
            </a:br>
            <a:r>
              <a:rPr lang="en-PH" sz="1200" dirty="0"/>
              <a:t>+-------------------------------------------------+</a:t>
            </a:r>
            <a:br>
              <a:rPr lang="en-PH" sz="1200" dirty="0"/>
            </a:br>
            <a:r>
              <a:rPr lang="en-PH" sz="1200" dirty="0"/>
              <a:t>| Sidebar Navigation | Header Panel: Welcome Back |</a:t>
            </a:r>
            <a:br>
              <a:rPr lang="en-PH" sz="1200" dirty="0"/>
            </a:br>
            <a:r>
              <a:rPr lang="en-PH" sz="1200" dirty="0"/>
              <a:t>|--------------------+----------------------------|</a:t>
            </a:r>
            <a:br>
              <a:rPr lang="en-PH" sz="1200" dirty="0"/>
            </a:br>
            <a:r>
              <a:rPr lang="en-PH" sz="1200" dirty="0"/>
              <a:t>| [📂] Ingest Files | Active Study Statistics |</a:t>
            </a:r>
            <a:br>
              <a:rPr lang="en-PH" sz="1200" dirty="0"/>
            </a:br>
            <a:r>
              <a:rPr lang="en-PH" sz="1200" dirty="0"/>
              <a:t>| [📝] Generate Quiz | Completed: 12 / Total: 15 |</a:t>
            </a:r>
            <a:br>
              <a:rPr lang="en-PH" sz="1200" dirty="0"/>
            </a:br>
            <a:r>
              <a:rPr lang="en-PH" sz="1200" dirty="0"/>
              <a:t>| [💬] Chat Portal | Recent History Timeline |</a:t>
            </a:r>
            <a:br>
              <a:rPr lang="en-PH" sz="1200" dirty="0"/>
            </a:br>
            <a:r>
              <a:rPr lang="en-PH" sz="1200" dirty="0"/>
              <a:t>+-------------------------------------------------+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698310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0D8EE-FEE0-3A79-A300-DBE3B8614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CB82CE-0524-FF32-95E7-78DEF85D56E4}"/>
              </a:ext>
            </a:extLst>
          </p:cNvPr>
          <p:cNvSpPr/>
          <p:nvPr/>
        </p:nvSpPr>
        <p:spPr>
          <a:xfrm>
            <a:off x="6381946" y="1715678"/>
            <a:ext cx="5505254" cy="345021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br>
              <a:rPr lang="en-PH" sz="1200" dirty="0"/>
            </a:br>
            <a:r>
              <a:rPr lang="en-PH" sz="1200" dirty="0"/>
              <a:t>chat_view.html</a:t>
            </a:r>
          </a:p>
          <a:p>
            <a:endParaRPr lang="en-PH" sz="1200" dirty="0"/>
          </a:p>
          <a:p>
            <a:r>
              <a:rPr lang="en-PH" sz="1200" dirty="0"/>
              <a:t>👨‍🎓 User: "Can you summarize Machine Learning?"</a:t>
            </a:r>
            <a:br>
              <a:rPr lang="en-PH" sz="1200" dirty="0"/>
            </a:br>
            <a:br>
              <a:rPr lang="en-PH" sz="1200" dirty="0"/>
            </a:br>
            <a:r>
              <a:rPr lang="en-PH" sz="1200" dirty="0"/>
              <a:t>🤖 </a:t>
            </a:r>
            <a:r>
              <a:rPr lang="en-PH" sz="1200" dirty="0" err="1"/>
              <a:t>StudyMate</a:t>
            </a:r>
            <a:r>
              <a:rPr lang="en-PH" sz="1200" dirty="0"/>
              <a:t> AI: "Machine learning is a subset of artificial intelligence where algorithms learn patterns from data and dynamically improve their performance over time without needing manual program adjustments."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860FC-4A86-6A85-4A82-F9696B0BA3A0}"/>
              </a:ext>
            </a:extLst>
          </p:cNvPr>
          <p:cNvSpPr txBox="1"/>
          <p:nvPr/>
        </p:nvSpPr>
        <p:spPr>
          <a:xfrm>
            <a:off x="1199562" y="135153"/>
            <a:ext cx="61698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Prototype - Chat Interface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8798B-799D-D7E5-D783-990B4C209D2C}"/>
              </a:ext>
            </a:extLst>
          </p:cNvPr>
          <p:cNvSpPr txBox="1"/>
          <p:nvPr/>
        </p:nvSpPr>
        <p:spPr>
          <a:xfrm>
            <a:off x="597079" y="2145387"/>
            <a:ext cx="5191027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en-PH" sz="20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Real-Time Conversation Engine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PH" sz="1600" b="0" i="0" dirty="0">
                <a:solidFill>
                  <a:srgbClr val="475569"/>
                </a:solidFill>
                <a:effectLst/>
                <a:latin typeface="Inter"/>
              </a:rPr>
              <a:t>Establishes real-time chat interactions backed by LLM pipelines. Sessions track chat context to answer subsequent follow-up queries smoothly.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600" b="1" i="0" dirty="0">
                <a:solidFill>
                  <a:srgbClr val="1E293B"/>
                </a:solidFill>
                <a:effectLst/>
                <a:latin typeface="Inter"/>
              </a:rPr>
              <a:t>AI Module:</a:t>
            </a:r>
            <a:r>
              <a:rPr lang="en-PH" sz="1600" b="0" i="0" dirty="0">
                <a:solidFill>
                  <a:srgbClr val="475569"/>
                </a:solidFill>
                <a:effectLst/>
                <a:latin typeface="Inter"/>
              </a:rPr>
              <a:t> Leverages the fast Gemini 2.5 Flash model.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600" b="1" i="0" dirty="0">
                <a:solidFill>
                  <a:srgbClr val="1E293B"/>
                </a:solidFill>
                <a:effectLst/>
                <a:latin typeface="Inter"/>
              </a:rPr>
              <a:t>Rich Responses:</a:t>
            </a:r>
            <a:r>
              <a:rPr lang="en-PH" sz="1600" b="0" i="0" dirty="0">
                <a:solidFill>
                  <a:srgbClr val="475569"/>
                </a:solidFill>
                <a:effectLst/>
                <a:latin typeface="Inter"/>
              </a:rPr>
              <a:t> Generates formatted summaries and code blocks.</a:t>
            </a:r>
          </a:p>
        </p:txBody>
      </p:sp>
    </p:spTree>
    <p:extLst>
      <p:ext uri="{BB962C8B-B14F-4D97-AF65-F5344CB8AC3E}">
        <p14:creationId xmlns:p14="http://schemas.microsoft.com/office/powerpoint/2010/main" val="2476506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D2345E-E0D3-B2B8-284F-E10B32F2C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118DCC-7516-F85D-8279-38A276BB7849}"/>
              </a:ext>
            </a:extLst>
          </p:cNvPr>
          <p:cNvSpPr/>
          <p:nvPr/>
        </p:nvSpPr>
        <p:spPr>
          <a:xfrm>
            <a:off x="6381946" y="1715678"/>
            <a:ext cx="5505254" cy="345021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br>
              <a:rPr lang="en-PH" sz="1600" dirty="0"/>
            </a:br>
            <a:r>
              <a:rPr lang="en-PH" sz="1600" dirty="0"/>
              <a:t>		</a:t>
            </a:r>
            <a:r>
              <a:rPr lang="en-PH" sz="1600" dirty="0" err="1"/>
              <a:t>mobile_frame</a:t>
            </a:r>
            <a:endParaRPr lang="en-PH" sz="1600" dirty="0"/>
          </a:p>
          <a:p>
            <a:r>
              <a:rPr lang="en-PH" sz="1600" dirty="0"/>
              <a:t>=== </a:t>
            </a:r>
            <a:r>
              <a:rPr lang="en-PH" sz="1600" dirty="0" err="1"/>
              <a:t>StudyMate</a:t>
            </a:r>
            <a:r>
              <a:rPr lang="en-PH" sz="1600" dirty="0"/>
              <a:t> App ===</a:t>
            </a:r>
            <a:br>
              <a:rPr lang="en-PH" sz="1600" dirty="0"/>
            </a:br>
            <a:r>
              <a:rPr lang="en-PH" sz="1600" dirty="0"/>
              <a:t>[📄] PhysicsNote.pdf</a:t>
            </a:r>
            <a:br>
              <a:rPr lang="en-PH" sz="1600" dirty="0"/>
            </a:br>
            <a:r>
              <a:rPr lang="en-PH" sz="1600" dirty="0"/>
              <a:t>----------------------</a:t>
            </a:r>
            <a:br>
              <a:rPr lang="en-PH" sz="1600" dirty="0"/>
            </a:br>
            <a:r>
              <a:rPr lang="en-PH" sz="1600" dirty="0"/>
              <a:t>🤖 </a:t>
            </a:r>
            <a:r>
              <a:rPr lang="en-PH" sz="1600" dirty="0" err="1"/>
              <a:t>StudyMate</a:t>
            </a:r>
            <a:r>
              <a:rPr lang="en-PH" sz="1600" dirty="0"/>
              <a:t> AI:</a:t>
            </a:r>
            <a:br>
              <a:rPr lang="en-PH" sz="1600" dirty="0"/>
            </a:br>
            <a:r>
              <a:rPr lang="en-PH" sz="1600" dirty="0"/>
              <a:t>"Analyzing physics formulas...</a:t>
            </a:r>
            <a:br>
              <a:rPr lang="en-PH" sz="1600" dirty="0"/>
            </a:br>
            <a:r>
              <a:rPr lang="en-PH" sz="1600" dirty="0"/>
              <a:t>Ready to begin testing."</a:t>
            </a:r>
            <a:br>
              <a:rPr lang="en-PH" sz="1600" dirty="0"/>
            </a:br>
            <a:r>
              <a:rPr lang="en-PH" sz="1600" dirty="0"/>
              <a:t>----------------------</a:t>
            </a:r>
            <a:br>
              <a:rPr lang="en-PH" sz="1600" dirty="0"/>
            </a:br>
            <a:r>
              <a:rPr lang="en-PH" sz="1600" dirty="0"/>
              <a:t>[Type message here...]</a:t>
            </a:r>
          </a:p>
          <a:p>
            <a:br>
              <a:rPr lang="en-PH" sz="1100" dirty="0"/>
            </a:br>
            <a:endParaRPr lang="en-PH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D3A51-663C-9660-5FE4-6D530EC31C0C}"/>
              </a:ext>
            </a:extLst>
          </p:cNvPr>
          <p:cNvSpPr txBox="1"/>
          <p:nvPr/>
        </p:nvSpPr>
        <p:spPr>
          <a:xfrm>
            <a:off x="1378670" y="212712"/>
            <a:ext cx="61698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Prototype - Mobile Layout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0C5FE-74A3-8F55-A6EF-E142EC0FDA4B}"/>
              </a:ext>
            </a:extLst>
          </p:cNvPr>
          <p:cNvSpPr txBox="1"/>
          <p:nvPr/>
        </p:nvSpPr>
        <p:spPr>
          <a:xfrm>
            <a:off x="304800" y="2054265"/>
            <a:ext cx="6169842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en-PH" sz="20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Optimized Responsive Frame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PH" sz="1600" b="0" i="0" dirty="0">
                <a:solidFill>
                  <a:srgbClr val="475569"/>
                </a:solidFill>
                <a:effectLst/>
                <a:latin typeface="Inter"/>
              </a:rPr>
              <a:t>This layout utilizes responsive design patterns to ensure layout parity and fluid navigation across mobile screens, tablets, and laptops.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600" b="1" i="0" dirty="0">
                <a:solidFill>
                  <a:srgbClr val="1E293B"/>
                </a:solidFill>
                <a:effectLst/>
                <a:latin typeface="Inter"/>
              </a:rPr>
              <a:t>Fluid Grids:</a:t>
            </a:r>
            <a:r>
              <a:rPr lang="en-PH" sz="1600" b="0" i="0" dirty="0">
                <a:solidFill>
                  <a:srgbClr val="475569"/>
                </a:solidFill>
                <a:effectLst/>
                <a:latin typeface="Inter"/>
              </a:rPr>
              <a:t> Built with CSS Flexbox wrapper designs.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600" b="1" i="0" dirty="0">
                <a:solidFill>
                  <a:srgbClr val="1E293B"/>
                </a:solidFill>
                <a:effectLst/>
                <a:latin typeface="Inter"/>
              </a:rPr>
              <a:t>Touch Controls:</a:t>
            </a:r>
            <a:r>
              <a:rPr lang="en-PH" sz="1600" b="0" i="0" dirty="0">
                <a:solidFill>
                  <a:srgbClr val="475569"/>
                </a:solidFill>
                <a:effectLst/>
                <a:latin typeface="Inter"/>
              </a:rPr>
              <a:t> Responsive touch interaction targets.</a:t>
            </a:r>
          </a:p>
        </p:txBody>
      </p:sp>
    </p:spTree>
    <p:extLst>
      <p:ext uri="{BB962C8B-B14F-4D97-AF65-F5344CB8AC3E}">
        <p14:creationId xmlns:p14="http://schemas.microsoft.com/office/powerpoint/2010/main" val="3100893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B2A703-6916-6765-CCF7-B5345B8F4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E76985-64BC-3E5F-DD5A-A839DF254477}"/>
              </a:ext>
            </a:extLst>
          </p:cNvPr>
          <p:cNvSpPr txBox="1"/>
          <p:nvPr/>
        </p:nvSpPr>
        <p:spPr>
          <a:xfrm>
            <a:off x="1199562" y="135153"/>
            <a:ext cx="61698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Prototype – </a:t>
            </a:r>
            <a:r>
              <a:rPr lang="en-PH" sz="2700" b="1" spc="-38" dirty="0">
                <a:solidFill>
                  <a:srgbClr val="0F172A"/>
                </a:solidFill>
                <a:latin typeface="Poppins" panose="00000500000000000000" pitchFamily="2" charset="0"/>
              </a:rPr>
              <a:t>Study Toolkit</a:t>
            </a:r>
            <a:endParaRPr lang="en-PH" sz="2700" b="1" i="0" spc="-38" dirty="0">
              <a:solidFill>
                <a:srgbClr val="0F172A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C6BB0F-4EB2-90B5-2D25-C0C5FB017C3E}"/>
              </a:ext>
            </a:extLst>
          </p:cNvPr>
          <p:cNvSpPr txBox="1"/>
          <p:nvPr/>
        </p:nvSpPr>
        <p:spPr>
          <a:xfrm>
            <a:off x="1020452" y="3299086"/>
            <a:ext cx="3155622" cy="90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AI Summary Engine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Parses textbook chapters, extracting key takeaways and formulas in seconds.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4152AD-3B22-79D0-66EC-4AE46DB892C6}"/>
              </a:ext>
            </a:extLst>
          </p:cNvPr>
          <p:cNvSpPr txBox="1"/>
          <p:nvPr/>
        </p:nvSpPr>
        <p:spPr>
          <a:xfrm>
            <a:off x="4810420" y="3299086"/>
            <a:ext cx="257116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Quiz Creator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Converts document topics into interactive assessment questions with feedback.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33F4A7-2627-7F66-51E2-0FFA1DE2CCF9}"/>
              </a:ext>
            </a:extLst>
          </p:cNvPr>
          <p:cNvSpPr txBox="1"/>
          <p:nvPr/>
        </p:nvSpPr>
        <p:spPr>
          <a:xfrm>
            <a:off x="8232743" y="3299085"/>
            <a:ext cx="2938805" cy="90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Flashcards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Generates active retrieval double-sided study cards for key terminology.</a:t>
            </a:r>
          </a:p>
        </p:txBody>
      </p:sp>
      <p:pic>
        <p:nvPicPr>
          <p:cNvPr id="30" name="Graphic 29" descr="Checklist">
            <a:extLst>
              <a:ext uri="{FF2B5EF4-FFF2-40B4-BE49-F238E27FC236}">
                <a16:creationId xmlns:a16="http://schemas.microsoft.com/office/drawing/2014/main" id="{AE4298FE-A27A-98B5-86DB-B1F40FEE5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7400" y="2841885"/>
            <a:ext cx="457200" cy="457200"/>
          </a:xfrm>
          <a:prstGeom prst="rect">
            <a:avLst/>
          </a:prstGeom>
        </p:spPr>
      </p:pic>
      <p:pic>
        <p:nvPicPr>
          <p:cNvPr id="32" name="Graphic 31" descr="Document">
            <a:extLst>
              <a:ext uri="{FF2B5EF4-FFF2-40B4-BE49-F238E27FC236}">
                <a16:creationId xmlns:a16="http://schemas.microsoft.com/office/drawing/2014/main" id="{C9AE2AB1-F767-2256-2E32-C0D47A57E2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4348" y="2791255"/>
            <a:ext cx="507830" cy="50783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5F53085-82E4-48FC-E6B3-ACD5706E6769}"/>
              </a:ext>
            </a:extLst>
          </p:cNvPr>
          <p:cNvSpPr/>
          <p:nvPr/>
        </p:nvSpPr>
        <p:spPr>
          <a:xfrm>
            <a:off x="9552955" y="2926430"/>
            <a:ext cx="383141" cy="3726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F6DBAB-97AE-27F4-6187-5E691C165215}"/>
              </a:ext>
            </a:extLst>
          </p:cNvPr>
          <p:cNvSpPr/>
          <p:nvPr/>
        </p:nvSpPr>
        <p:spPr>
          <a:xfrm>
            <a:off x="9689360" y="2819535"/>
            <a:ext cx="383141" cy="3726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6306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8E99B8-D1F8-F42B-F75F-B0FB59BA7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D60CF3-5567-407F-C965-B2424B5C18E1}"/>
              </a:ext>
            </a:extLst>
          </p:cNvPr>
          <p:cNvSpPr txBox="1"/>
          <p:nvPr/>
        </p:nvSpPr>
        <p:spPr>
          <a:xfrm>
            <a:off x="1237269" y="217424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Features of the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C7F61-1DFD-6650-E94C-A19D640651A7}"/>
              </a:ext>
            </a:extLst>
          </p:cNvPr>
          <p:cNvSpPr txBox="1"/>
          <p:nvPr/>
        </p:nvSpPr>
        <p:spPr>
          <a:xfrm>
            <a:off x="489670" y="2117102"/>
            <a:ext cx="6169842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en-PH" sz="2400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Comprehensive Toolset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PH" sz="1800" b="0" i="0" dirty="0">
                <a:solidFill>
                  <a:srgbClr val="475569"/>
                </a:solidFill>
                <a:effectLst/>
                <a:latin typeface="Inter"/>
              </a:rPr>
              <a:t>This platform provides structured study components. Users can manage resource uploads and explore personalized learning pathways.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800" b="1" i="0" dirty="0">
                <a:solidFill>
                  <a:srgbClr val="1E293B"/>
                </a:solidFill>
                <a:effectLst/>
                <a:latin typeface="Inter"/>
              </a:rPr>
              <a:t>Custom Prompts:</a:t>
            </a:r>
            <a:r>
              <a:rPr lang="en-PH" sz="1800" b="0" i="0" dirty="0">
                <a:solidFill>
                  <a:srgbClr val="475569"/>
                </a:solidFill>
                <a:effectLst/>
                <a:latin typeface="Inter"/>
              </a:rPr>
              <a:t> Fine-tuned academic context layers.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800" b="1" i="0" dirty="0">
                <a:solidFill>
                  <a:srgbClr val="1E293B"/>
                </a:solidFill>
                <a:effectLst/>
                <a:latin typeface="Inter"/>
              </a:rPr>
              <a:t>Dashboard Stats:</a:t>
            </a:r>
            <a:r>
              <a:rPr lang="en-PH" sz="1800" b="0" i="0" dirty="0">
                <a:solidFill>
                  <a:srgbClr val="475569"/>
                </a:solidFill>
                <a:effectLst/>
                <a:latin typeface="Inter"/>
              </a:rPr>
              <a:t> Quantifiable feedback metrics.</a:t>
            </a:r>
          </a:p>
          <a:p>
            <a:pPr marL="0" marR="0" indent="0" algn="l">
              <a:spcAft>
                <a:spcPts val="1050"/>
              </a:spcAft>
              <a:buFont typeface="Arial" panose="020B0604020202020204" pitchFamily="34" charset="0"/>
              <a:buChar char="•"/>
            </a:pPr>
            <a:r>
              <a:rPr lang="en-PH" sz="1800" b="1" i="0" dirty="0">
                <a:solidFill>
                  <a:srgbClr val="1E293B"/>
                </a:solidFill>
                <a:effectLst/>
                <a:latin typeface="Inter"/>
              </a:rPr>
              <a:t>Admin Controls:</a:t>
            </a:r>
            <a:r>
              <a:rPr lang="en-PH" sz="1800" b="0" i="0" dirty="0">
                <a:solidFill>
                  <a:srgbClr val="475569"/>
                </a:solidFill>
                <a:effectLst/>
                <a:latin typeface="Inter"/>
              </a:rPr>
              <a:t> Direct account moderation logs.</a:t>
            </a:r>
          </a:p>
        </p:txBody>
      </p:sp>
      <p:pic>
        <p:nvPicPr>
          <p:cNvPr id="8" name="Picture 7" descr="Modern developer workspace indicating clean administrative layout styling">
            <a:extLst>
              <a:ext uri="{FF2B5EF4-FFF2-40B4-BE49-F238E27FC236}">
                <a16:creationId xmlns:a16="http://schemas.microsoft.com/office/drawing/2014/main" id="{0A23BEB0-79A6-A179-60CD-C744FE106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336" y="1888503"/>
            <a:ext cx="5112994" cy="34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54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B541C-7B75-13D8-5428-A2307CAE3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FFC3D-79A8-4B43-9842-6555B3F98A4C}"/>
              </a:ext>
            </a:extLst>
          </p:cNvPr>
          <p:cNvSpPr txBox="1"/>
          <p:nvPr/>
        </p:nvSpPr>
        <p:spPr>
          <a:xfrm>
            <a:off x="1143000" y="207997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Testing &amp; Evaluation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B68C55-F5E7-AE08-79E4-E82BA7BFEE28}"/>
              </a:ext>
            </a:extLst>
          </p:cNvPr>
          <p:cNvGraphicFramePr>
            <a:graphicFrameLocks noGrp="1"/>
          </p:cNvGraphicFramePr>
          <p:nvPr/>
        </p:nvGraphicFramePr>
        <p:xfrm>
          <a:off x="1997178" y="1824147"/>
          <a:ext cx="8197644" cy="4354294"/>
        </p:xfrm>
        <a:graphic>
          <a:graphicData uri="http://schemas.openxmlformats.org/drawingml/2006/table">
            <a:tbl>
              <a:tblPr/>
              <a:tblGrid>
                <a:gridCol w="2049411">
                  <a:extLst>
                    <a:ext uri="{9D8B030D-6E8A-4147-A177-3AD203B41FA5}">
                      <a16:colId xmlns:a16="http://schemas.microsoft.com/office/drawing/2014/main" val="335015819"/>
                    </a:ext>
                  </a:extLst>
                </a:gridCol>
                <a:gridCol w="2049411">
                  <a:extLst>
                    <a:ext uri="{9D8B030D-6E8A-4147-A177-3AD203B41FA5}">
                      <a16:colId xmlns:a16="http://schemas.microsoft.com/office/drawing/2014/main" val="3770574275"/>
                    </a:ext>
                  </a:extLst>
                </a:gridCol>
                <a:gridCol w="2049411">
                  <a:extLst>
                    <a:ext uri="{9D8B030D-6E8A-4147-A177-3AD203B41FA5}">
                      <a16:colId xmlns:a16="http://schemas.microsoft.com/office/drawing/2014/main" val="2882726005"/>
                    </a:ext>
                  </a:extLst>
                </a:gridCol>
                <a:gridCol w="2049411">
                  <a:extLst>
                    <a:ext uri="{9D8B030D-6E8A-4147-A177-3AD203B41FA5}">
                      <a16:colId xmlns:a16="http://schemas.microsoft.com/office/drawing/2014/main" val="2299253711"/>
                    </a:ext>
                  </a:extLst>
                </a:gridCol>
              </a:tblGrid>
              <a:tr h="36962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100" b="1" i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Verification Test Case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100" b="1" i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Applied Metric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100" b="1" i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Expected Behavior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100" b="1" i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Status Result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573337"/>
                  </a:ext>
                </a:extLst>
              </a:tr>
              <a:tr h="99542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1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Secure Login Page</a:t>
                      </a:r>
                      <a:endParaRPr lang="en-PH" sz="1700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Authentication Input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Identifies valid users and secures passwords.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1" i="0">
                          <a:solidFill>
                            <a:srgbClr val="10B981"/>
                          </a:solidFill>
                          <a:effectLst/>
                          <a:latin typeface="Inter"/>
                        </a:rPr>
                        <a:t> Passed</a:t>
                      </a:r>
                      <a:endParaRPr lang="en-PH" sz="1700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42339"/>
                  </a:ext>
                </a:extLst>
              </a:tr>
              <a:tr h="99542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1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Gemini Chatbot API</a:t>
                      </a:r>
                      <a:endParaRPr lang="en-PH" sz="1700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API Request Call latency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Replies with accurate responses in under 2 seconds.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1" i="0">
                          <a:solidFill>
                            <a:srgbClr val="10B981"/>
                          </a:solidFill>
                          <a:effectLst/>
                          <a:latin typeface="Inter"/>
                        </a:rPr>
                        <a:t> Passed</a:t>
                      </a:r>
                      <a:endParaRPr lang="en-PH" sz="1700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929636"/>
                  </a:ext>
                </a:extLst>
              </a:tr>
              <a:tr h="99542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1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PDF Processing Ingestion</a:t>
                      </a:r>
                      <a:endParaRPr lang="en-PH" sz="1700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Character extraction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Parses documents, capturing technical definitions.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1" i="0">
                          <a:solidFill>
                            <a:srgbClr val="10B981"/>
                          </a:solidFill>
                          <a:effectLst/>
                          <a:latin typeface="Inter"/>
                        </a:rPr>
                        <a:t> Passed</a:t>
                      </a:r>
                      <a:endParaRPr lang="en-PH" sz="1700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36797"/>
                  </a:ext>
                </a:extLst>
              </a:tr>
              <a:tr h="99542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1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Interactive Quiz Engine</a:t>
                      </a:r>
                      <a:endParaRPr lang="en-PH" sz="1700" b="0" i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Score calculations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0" i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Checks user responses against computed answers.</a:t>
                      </a: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PH" sz="1700" b="1" i="0" dirty="0">
                          <a:solidFill>
                            <a:srgbClr val="10B981"/>
                          </a:solidFill>
                          <a:effectLst/>
                          <a:latin typeface="Inter"/>
                        </a:rPr>
                        <a:t> Passed</a:t>
                      </a:r>
                      <a:endParaRPr lang="en-PH" sz="1700" b="0" i="0" dirty="0">
                        <a:solidFill>
                          <a:srgbClr val="334155"/>
                        </a:solidFill>
                        <a:effectLst/>
                        <a:latin typeface="Inter"/>
                      </a:endParaRPr>
                    </a:p>
                  </a:txBody>
                  <a:tcPr marL="146386" marR="146386" marT="102471" marB="102471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92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111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DBD3E-2C57-D7F1-E6DF-64E4A62A4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7053BF-C894-CC00-47F3-6E201469F44E}"/>
              </a:ext>
            </a:extLst>
          </p:cNvPr>
          <p:cNvSpPr txBox="1"/>
          <p:nvPr/>
        </p:nvSpPr>
        <p:spPr>
          <a:xfrm>
            <a:off x="1143000" y="255131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Project Results</a:t>
            </a:r>
            <a:endParaRPr lang="en-PH" sz="2700" b="1" i="0" spc="-38" dirty="0">
              <a:solidFill>
                <a:srgbClr val="0F172A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C7E20-BE93-251E-03BD-3E86D72EF4E5}"/>
              </a:ext>
            </a:extLst>
          </p:cNvPr>
          <p:cNvSpPr txBox="1"/>
          <p:nvPr/>
        </p:nvSpPr>
        <p:spPr>
          <a:xfrm>
            <a:off x="6676535" y="2596721"/>
            <a:ext cx="4463590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en-PH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Positive Learning Outcomes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Early user testing revealed strong satisfaction across major categories. Users reported significant improvements in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 resource summarization and study workflows.</a:t>
            </a:r>
          </a:p>
          <a:p>
            <a:pPr marL="0" marR="0" indent="0" algn="l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Students highlighted that interactive self-testing modules significantly boosted exam preparation confidence.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BB4C5-8E0B-E9D5-3C69-EFA09966B19F}"/>
              </a:ext>
            </a:extLst>
          </p:cNvPr>
          <p:cNvSpPr txBox="1"/>
          <p:nvPr/>
        </p:nvSpPr>
        <p:spPr>
          <a:xfrm>
            <a:off x="1480009" y="3053256"/>
            <a:ext cx="48925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600" b="1" i="0" dirty="0">
                <a:effectLst/>
                <a:latin typeface="Inter"/>
              </a:rPr>
              <a:t>Concept Clarity			92%</a:t>
            </a:r>
          </a:p>
          <a:p>
            <a:endParaRPr lang="en-PH" sz="1600" b="1" i="0" dirty="0">
              <a:effectLst/>
              <a:latin typeface="Inter"/>
            </a:endParaRPr>
          </a:p>
          <a:p>
            <a:r>
              <a:rPr lang="en-PH" sz="1600" b="1" i="0" dirty="0">
                <a:effectLst/>
                <a:latin typeface="Inter"/>
              </a:rPr>
              <a:t>Platform Usability			88%</a:t>
            </a:r>
          </a:p>
          <a:p>
            <a:pPr marL="0" marR="0" indent="0">
              <a:buNone/>
            </a:pPr>
            <a:endParaRPr lang="en-PH" sz="1600" b="1" dirty="0">
              <a:latin typeface="Inter"/>
            </a:endParaRPr>
          </a:p>
          <a:p>
            <a:pPr marL="0" marR="0" indent="0">
              <a:buNone/>
            </a:pPr>
            <a:r>
              <a:rPr lang="en-PH" sz="1600" b="1" i="0" dirty="0">
                <a:effectLst/>
                <a:latin typeface="Inter"/>
              </a:rPr>
              <a:t>Resource Summaries			85%</a:t>
            </a:r>
          </a:p>
        </p:txBody>
      </p:sp>
    </p:spTree>
    <p:extLst>
      <p:ext uri="{BB962C8B-B14F-4D97-AF65-F5344CB8AC3E}">
        <p14:creationId xmlns:p14="http://schemas.microsoft.com/office/powerpoint/2010/main" val="1394421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74AA2-D54E-F77F-5FD8-2A9D35600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78C2C2-EA1E-4BB2-B732-923BDAD2E727}"/>
              </a:ext>
            </a:extLst>
          </p:cNvPr>
          <p:cNvSpPr txBox="1"/>
          <p:nvPr/>
        </p:nvSpPr>
        <p:spPr>
          <a:xfrm>
            <a:off x="1190135" y="321119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Future Enhancements</a:t>
            </a:r>
            <a:endParaRPr lang="en-PH" sz="2700" b="1" i="0" spc="-38" dirty="0">
              <a:solidFill>
                <a:srgbClr val="0F172A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478B3-4933-3FBB-9D0F-053CE77877EE}"/>
              </a:ext>
            </a:extLst>
          </p:cNvPr>
          <p:cNvSpPr txBox="1"/>
          <p:nvPr/>
        </p:nvSpPr>
        <p:spPr>
          <a:xfrm>
            <a:off x="1190135" y="3284347"/>
            <a:ext cx="2731416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Voice Support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Integrates speech-to-text models to support natural voice interactions.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E939C-F3DA-4162-FCCA-2C3C05A4A624}"/>
              </a:ext>
            </a:extLst>
          </p:cNvPr>
          <p:cNvSpPr txBox="1"/>
          <p:nvPr/>
        </p:nvSpPr>
        <p:spPr>
          <a:xfrm>
            <a:off x="4650165" y="3278739"/>
            <a:ext cx="2891671" cy="90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Dark Mode</a:t>
            </a:r>
            <a:endParaRPr lang="en-PH" sz="2400" b="1" i="0" dirty="0">
              <a:solidFill>
                <a:srgbClr val="1E293B"/>
              </a:solidFill>
              <a:effectLst/>
              <a:latin typeface="Poppins" panose="00000500000000000000" pitchFamily="2" charset="0"/>
            </a:endParaRPr>
          </a:p>
          <a:p>
            <a:pPr marL="0" marR="0" indent="0" algn="l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Adds screen color toggle options to help reduce eye strain during </a:t>
            </a:r>
          </a:p>
        </p:txBody>
      </p:sp>
      <p:pic>
        <p:nvPicPr>
          <p:cNvPr id="13" name="Graphic 12" descr="Volume">
            <a:extLst>
              <a:ext uri="{FF2B5EF4-FFF2-40B4-BE49-F238E27FC236}">
                <a16:creationId xmlns:a16="http://schemas.microsoft.com/office/drawing/2014/main" id="{115365EC-2B34-E46C-F6FF-28BFDFE590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8643" y="2262224"/>
            <a:ext cx="914400" cy="914400"/>
          </a:xfrm>
          <a:prstGeom prst="rect">
            <a:avLst/>
          </a:prstGeom>
        </p:spPr>
      </p:pic>
      <p:pic>
        <p:nvPicPr>
          <p:cNvPr id="15" name="Graphic 14" descr="Moon">
            <a:extLst>
              <a:ext uri="{FF2B5EF4-FFF2-40B4-BE49-F238E27FC236}">
                <a16:creationId xmlns:a16="http://schemas.microsoft.com/office/drawing/2014/main" id="{D9000ED6-62D9-2D77-D8D7-CE51D7935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659" y="2364339"/>
            <a:ext cx="914400" cy="914400"/>
          </a:xfrm>
          <a:prstGeom prst="rect">
            <a:avLst/>
          </a:prstGeom>
        </p:spPr>
      </p:pic>
      <p:pic>
        <p:nvPicPr>
          <p:cNvPr id="17" name="Graphic 16" descr="Wi Fi">
            <a:extLst>
              <a:ext uri="{FF2B5EF4-FFF2-40B4-BE49-F238E27FC236}">
                <a16:creationId xmlns:a16="http://schemas.microsoft.com/office/drawing/2014/main" id="{B2463C6B-82C0-81AC-582E-B60AD15A2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0740" y="2364339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03455E7-1720-04EB-9D26-219AC9DD1B83}"/>
              </a:ext>
            </a:extLst>
          </p:cNvPr>
          <p:cNvSpPr txBox="1"/>
          <p:nvPr/>
        </p:nvSpPr>
        <p:spPr>
          <a:xfrm>
            <a:off x="7740193" y="3276950"/>
            <a:ext cx="3075494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en-PH" b="1" i="0" dirty="0">
                <a:solidFill>
                  <a:srgbClr val="1E293B"/>
                </a:solidFill>
                <a:effectLst/>
                <a:latin typeface="Poppins" panose="00000500000000000000" pitchFamily="2" charset="0"/>
              </a:rPr>
              <a:t>Offline Access</a:t>
            </a:r>
          </a:p>
          <a:p>
            <a:pPr marL="0" marR="0" indent="0" algn="ctr">
              <a:buNone/>
            </a:pPr>
            <a:r>
              <a:rPr lang="en-PH" sz="1400" b="0" i="0" dirty="0">
                <a:solidFill>
                  <a:srgbClr val="475569"/>
                </a:solidFill>
                <a:effectLst/>
                <a:latin typeface="Inter"/>
              </a:rPr>
              <a:t>Allows users to access cached documents and notes without internet access</a:t>
            </a:r>
          </a:p>
        </p:txBody>
      </p:sp>
    </p:spTree>
    <p:extLst>
      <p:ext uri="{BB962C8B-B14F-4D97-AF65-F5344CB8AC3E}">
        <p14:creationId xmlns:p14="http://schemas.microsoft.com/office/powerpoint/2010/main" val="994894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6A876E-AAF6-89F8-03AD-54EE5DE05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237934-315C-04B6-122C-C8E7BAE2AFAD}"/>
              </a:ext>
            </a:extLst>
          </p:cNvPr>
          <p:cNvSpPr txBox="1"/>
          <p:nvPr/>
        </p:nvSpPr>
        <p:spPr>
          <a:xfrm>
            <a:off x="1161854" y="283411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PH" sz="2700" b="1" i="0" spc="-38" dirty="0">
                <a:solidFill>
                  <a:srgbClr val="0F172A"/>
                </a:solidFill>
                <a:effectLst/>
                <a:latin typeface="Poppins" panose="00000500000000000000" pitchFamily="2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04B7E-3C1A-C45E-8BDC-10B562A56A73}"/>
              </a:ext>
            </a:extLst>
          </p:cNvPr>
          <p:cNvSpPr txBox="1"/>
          <p:nvPr/>
        </p:nvSpPr>
        <p:spPr>
          <a:xfrm>
            <a:off x="715652" y="2324209"/>
            <a:ext cx="5380348" cy="150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900"/>
              </a:spcAft>
              <a:buNone/>
            </a:pPr>
            <a:r>
              <a:rPr lang="en-PH" sz="2000" b="1" i="0" dirty="0">
                <a:solidFill>
                  <a:srgbClr val="4F46E5"/>
                </a:solidFill>
                <a:effectLst/>
                <a:latin typeface="Poppins" panose="00000500000000000000" pitchFamily="2" charset="0"/>
              </a:rPr>
              <a:t>An Interactive Academic Tool</a:t>
            </a:r>
          </a:p>
          <a:p>
            <a:pPr marL="0" marR="0" indent="0" algn="ctr">
              <a:buNone/>
            </a:pPr>
            <a:r>
              <a:rPr lang="en-PH" sz="1600" b="1" i="0" dirty="0" err="1">
                <a:solidFill>
                  <a:srgbClr val="475569"/>
                </a:solidFill>
                <a:effectLst/>
                <a:latin typeface="Inter"/>
              </a:rPr>
              <a:t>StudyMate</a:t>
            </a:r>
            <a:r>
              <a:rPr lang="en-PH" sz="1600" b="0" i="0" dirty="0">
                <a:solidFill>
                  <a:srgbClr val="475569"/>
                </a:solidFill>
                <a:effectLst/>
                <a:latin typeface="Inter"/>
              </a:rPr>
              <a:t> successfully demonstrates the potential of integrating conversational AI into student workspaces. The platform automates tedious study preparation tasks, converting static material into engaging revision workflows.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E838B-A64E-5B7A-CA88-BA82EF72D371}"/>
              </a:ext>
            </a:extLst>
          </p:cNvPr>
          <p:cNvSpPr txBox="1"/>
          <p:nvPr/>
        </p:nvSpPr>
        <p:spPr>
          <a:xfrm>
            <a:off x="6595572" y="2324209"/>
            <a:ext cx="5093617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900"/>
              </a:spcAft>
              <a:buNone/>
            </a:pPr>
            <a:r>
              <a:rPr lang="en-PH" sz="2000" b="1" i="0" dirty="0">
                <a:solidFill>
                  <a:srgbClr val="4F46E5"/>
                </a:solidFill>
                <a:effectLst/>
                <a:latin typeface="Poppins" panose="00000500000000000000" pitchFamily="2" charset="0"/>
              </a:rPr>
              <a:t>The Engineering Value</a:t>
            </a:r>
          </a:p>
          <a:p>
            <a:pPr marL="0" marR="0" indent="0" algn="ctr">
              <a:buNone/>
            </a:pPr>
            <a:r>
              <a:rPr lang="en-PH" sz="1600" b="0" i="0" dirty="0">
                <a:solidFill>
                  <a:srgbClr val="475569"/>
                </a:solidFill>
                <a:effectLst/>
                <a:latin typeface="Inter"/>
              </a:rPr>
              <a:t>This project proves that linking Python Flask APIs with state-of-the-art LLMs like Gemini delivers a robust, secure, and responsive framework tailored for academic use cases.</a:t>
            </a:r>
          </a:p>
        </p:txBody>
      </p:sp>
    </p:spTree>
    <p:extLst>
      <p:ext uri="{BB962C8B-B14F-4D97-AF65-F5344CB8AC3E}">
        <p14:creationId xmlns:p14="http://schemas.microsoft.com/office/powerpoint/2010/main" val="925352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B8EFD-1D9C-84EC-09D8-40088F398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6011CB-966F-7A8F-01A8-AF1537211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B5E38A-4DF1-6315-94AC-7E208C3EF704}"/>
              </a:ext>
            </a:extLst>
          </p:cNvPr>
          <p:cNvSpPr txBox="1"/>
          <p:nvPr/>
        </p:nvSpPr>
        <p:spPr>
          <a:xfrm>
            <a:off x="3009508" y="2807985"/>
            <a:ext cx="61698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1125"/>
              </a:spcAft>
              <a:buNone/>
            </a:pPr>
            <a:r>
              <a:rPr lang="en-PH" sz="5400" b="1" i="0" dirty="0">
                <a:effectLst/>
                <a:latin typeface="Poppins" panose="00000500000000000000" pitchFamily="2" charset="0"/>
              </a:rPr>
              <a:t>Thank You!</a:t>
            </a:r>
          </a:p>
        </p:txBody>
      </p:sp>
    </p:spTree>
    <p:extLst>
      <p:ext uri="{BB962C8B-B14F-4D97-AF65-F5344CB8AC3E}">
        <p14:creationId xmlns:p14="http://schemas.microsoft.com/office/powerpoint/2010/main" val="3502542597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Implemented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5256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current StudyMate AI web application extends the proposed platform with usable student-facing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StudyMate AI • Implemented web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283464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673351"/>
            <a:ext cx="2560320" cy="415137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74519"/>
            <a:ext cx="21945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StudyMate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350008"/>
            <a:ext cx="2194560" cy="530352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468880"/>
            <a:ext cx="19659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Aptos"/>
              </a:rPr>
              <a:t>Hello! How can I help you today?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9888" y="3108960"/>
            <a:ext cx="1920240" cy="493776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18688"/>
            <a:ext cx="16916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  <a:latin typeface="Aptos"/>
              </a:rPr>
              <a:t>Summarize my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212080"/>
            <a:ext cx="219456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5294376"/>
            <a:ext cx="196596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Attach  •  Ask StudyMate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508760"/>
            <a:ext cx="708660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508760"/>
            <a:ext cx="82296" cy="25146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1691639"/>
            <a:ext cx="6629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What is working in the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148839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AI chat interface with saved conversation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24327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Document attachment and text extraction before prompting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99815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Voice input and read-aloud response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575303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Projects, study schedule, downloads, and photo editing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4315968"/>
            <a:ext cx="7086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4315968"/>
            <a:ext cx="82296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4498848"/>
            <a:ext cx="6629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Student-centered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956048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Responsive side navigation keeps learning tools organized.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431536"/>
            <a:ext cx="6583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Browser storage retains chats, projects, and scheduled sessions.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AI Chat and Document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5256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focused workspace where students can ask questions, attach study material, and review replies.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StudyMate AI • Implemented web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349240" cy="43434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82296" cy="4343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45920"/>
            <a:ext cx="4892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Chat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Send questions through the StudyMate chat panel.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Start a new conversation or reopen a saved chat from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54096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Optional text-to-speech reads AI responses aloud.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29584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Speech recognition can turn a spoken question into a prompt.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5120640" cy="43434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82296" cy="43434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645920"/>
            <a:ext cx="4663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Supported study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103120"/>
            <a:ext cx="4617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PDF and DOCX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78608"/>
            <a:ext cx="4617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TXT, Markdown, CSV, JSON, and common source-code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54096"/>
            <a:ext cx="4617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Extracted text is included with the learner’s question for context.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Learning Organization and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5256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Practical features help learners retain work and plan their next study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StudyMate AI • Implemented web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56616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82296" cy="42519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00200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Organize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Create named study 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32888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Add upcoming sessions with a topic and date/time.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08376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Review and delete saved conversations from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17320"/>
            <a:ext cx="356616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17320"/>
            <a:ext cx="82296" cy="4251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057400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Export the active conversation as TXT.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32888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Generate a shareable PDF copy.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08376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Create a DOCX version for notes and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6136" y="1417320"/>
            <a:ext cx="356616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6136" y="1417320"/>
            <a:ext cx="82296" cy="4251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7" y="1600200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Photo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057400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Upload PNG, JPEG, or WebP study images.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532888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Adjust brightness, contrast, saturation, and grayscale.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008376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Download the edited image as PNG or JPG.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Current Prototype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5256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implemented version is a lightweight client-side web application; these details reflect the source files in the project folder.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StudyMate AI • Implemented web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5661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82296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00200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HTML5 structure and responsive CSS styling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32888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Modern ES module JavaScript for application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08376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Canvas-based image adjustments and browser downloads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17320"/>
            <a:ext cx="35661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17320"/>
            <a:ext cx="82296" cy="43891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Browser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057400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Local storage for chats, projects, and study schedules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32888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Web Speech APIs for recognition and text-to-speech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08376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Client-side readers for PDF and DOCX attachments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6136" y="1417320"/>
            <a:ext cx="35661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6136" y="1417320"/>
            <a:ext cx="82296" cy="4389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7" y="1600200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AI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057400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Google Gemini generate-content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532888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Attached file text is supplied as prompt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008376"/>
            <a:ext cx="30632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API key configuration is kept separate from UI logic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Prototype Alignment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5256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implemented interface provides a concrete foundation for the broader architecture proposed in this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StudyMate AI • Implemented web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34924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82296" cy="42519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45920"/>
            <a:ext cx="4892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Already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Conversational academic support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File-assisted study prompts and accessible voice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54096"/>
            <a:ext cx="4846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Personal study organization and exported conversation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63040"/>
            <a:ext cx="512064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63040"/>
            <a:ext cx="82296" cy="4251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645920"/>
            <a:ext cx="4663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Recommended next development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03120"/>
            <a:ext cx="4617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Move the API key to a secure server-side service.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78608"/>
            <a:ext cx="4617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Add authenticated user accounts and a persistent database.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054096"/>
            <a:ext cx="4617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• Expand document analysis into summaries, quizzes, and flashcards.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1361</Words>
  <Application>Microsoft Office PowerPoint</Application>
  <PresentationFormat>Widescreen</PresentationFormat>
  <Paragraphs>202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Courier New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Piluden</dc:creator>
  <cp:lastModifiedBy>Ian Piluden</cp:lastModifiedBy>
  <cp:revision>1</cp:revision>
  <dcterms:created xsi:type="dcterms:W3CDTF">2026-07-14T09:26:05Z</dcterms:created>
  <dcterms:modified xsi:type="dcterms:W3CDTF">2026-07-14T14:37:58Z</dcterms:modified>
</cp:coreProperties>
</file>